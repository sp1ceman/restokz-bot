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73152" cy="3474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6858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  <a:latin typeface="Segoe UI"/>
              </a:defRPr>
            </a:pPr>
            <a:r>
              <a:t>👑 RESTOKZ &amp; RESTOKZ PRO</a:t>
            </a:r>
          </a:p>
          <a:p>
            <a:pPr>
              <a:spcBef>
                <a:spcPts val="1200"/>
              </a:spcBef>
              <a:defRPr sz="3000" b="1">
                <a:solidFill>
                  <a:srgbClr val="F9F9FB"/>
                </a:solidFill>
                <a:latin typeface="Georgia"/>
              </a:defRPr>
            </a:pPr>
            <a:r>
              <a:t>Цифровая экосистема бронирования и умного управления посадкой</a:t>
            </a:r>
          </a:p>
          <a:p>
            <a:pPr>
              <a:spcBef>
                <a:spcPts val="1000"/>
              </a:spcBef>
              <a:defRPr sz="1400">
                <a:solidFill>
                  <a:srgbClr val="E5D5C0"/>
                </a:solidFill>
                <a:latin typeface="Segoe UI"/>
              </a:defRPr>
            </a:pPr>
            <a:r>
              <a:t>Устранение No-Show • Полный контроль зала • Выручка ресторанов без комиссий агрегаторов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📱 Telegram Mini App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Бронирование гостем за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🪑 Терминал Хостес PRO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Живая интерактивная карта зала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23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⚡ Проверено CustDev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20 интервью: рестораторы и гости</a:t>
            </a:r>
          </a:p>
        </p:txBody>
      </p:sp>
      <p:pic>
        <p:nvPicPr>
          <p:cNvPr id="11" name="Picture 10" descr="hero_dual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51560"/>
            <a:ext cx="4572000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ПРОБЛЕМА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Почему рестораны Казахстана теряют до 25% выручки каждый уикенд?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Исследование 20+ заведений (Шымкент, Алматы, Астана) выявило системный кризис ручного управления бронями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B7185"/>
                </a:solidFill>
              </a:defRPr>
            </a:pPr>
            <a:r>
              <a:t>1. Хаос в WhatsApp и блокнотах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📞 Ручная переписка отнимает 3-4 часа хостес в день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⏳ В часы пик до 30% входящих звонков и аудио без ответа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📝 Потери броней из-за неразборчивых записей в тетрадях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📉 Нет единой цифровой базы гостей и истории их визитов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BBF24"/>
                </a:solidFill>
              </a:defRPr>
            </a:pPr>
            <a:r>
              <a:t>2. Эпидемия No-Show (неявки)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❌ 20-25% забронированных столов в выходные пустуют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🤷 Гости бронируют 2-3 места сразу и не предупреждают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💸 Ресторан отказывает гостям у двери («все занято»), а стол пуст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💔 Прямой убыток: от 100 000 до 450 000 ₸ за один вечер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3. Ловушка комиссий агрегаторов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💳 Агрегаторы требуют 10-15% с чека или 500 ₸ за гостя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💻 Кассовые POS (iiko/R-Keeper) тяжелы для смартфонов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📱 У хостес нет легкого мобильного терминала для зала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🔒 База гостей остается у сторонних сервисов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ПРОДУКТОВАЯ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Customer Development: 6 гипотез и реальные факты рынка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20 глубинных интервью (10 рестораторов + 10 гостей). Анализ согласия и причины несогласных: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591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2743200"/>
                <a:gridCol w="2743200"/>
                <a:gridCol w="2587752"/>
              </a:tblGrid>
              <a:tr h="666205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Гипотеза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Результат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Кто подтвердил &amp; Инсайт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Кто НЕ согласился и почему?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0B0D10"/>
                          </a:solidFill>
                        </a:defRPr>
                      </a:pPr>
                      <a:r>
                        <a:t>Решение RestoKZ PRO</a:t>
                      </a:r>
                    </a:p>
                  </a:txBody>
                  <a:tcPr>
                    <a:solidFill>
                      <a:srgbClr val="C5A880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H1: No-Show</a:t>
                      </a:r>
                      <a:br/>
                      <a:r>
                        <a:t>(пустые столы)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Убытки до 450к₸/уикенд. Инсайт: гостям стыдно звонить отменять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элитный VIP-клуб (строго 100% Kaspi предоплата) + 1 фастфуд с живой очередью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Пуш за 2ч + кнопка отмены в 1 клик (освобождает стол мгновенно)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H2: WhatsApp</a:t>
                      </a:r>
                      <a:br/>
                      <a:r>
                        <a:t>(затор аудио)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7 из 10</a:t>
                      </a:r>
                      <a:br/>
                      <a:r>
                        <a:t>(70%)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Задержка ответа 40-90 мин, слив до 20 столов в вечер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мелкие кофейни (мало броней, успевают) + 1 сеть с колл-центром за 380к₸/мес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Self-service Mini App: прямая бронь со слота за 30 секунд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H3: AppStore</a:t>
                      </a:r>
                      <a:br/>
                      <a:r>
                        <a:t>(отказ от ПО)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Гости отказываются ставить приложения на 80Мб с СМС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студента готовы качать ТОЛЬКО ради бонуса 5000 ₸. Без бонуса — удаляют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Telegram Mini App: запуск в 1 клик без установок и регистраций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H4: Зонирование и</a:t>
                      </a:r>
                      <a:br/>
                      <a:r>
                        <a:t>Walk-in (от двери)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Важность выбора зон (VIP, окно, терраса) и быстрой записи звонков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заведения fast-casual («у нас живая очередь без броней и без разделения на зоны»)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Интерактивная карта зон зала + кнопка посадки «Walk-in / По звонку» за 3 сек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H5: WTP</a:t>
                      </a:r>
                      <a:br/>
                      <a:r>
                        <a:t>(подписка)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7 из 10</a:t>
                      </a:r>
                      <a:br/>
                      <a:r>
                        <a:t>(70%)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Согласны на 20–25к₸: окупается за 1 спасенный стол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заведение в кассовом разрыве + 2 мелкие точки боятся фиксы в несезон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Фиксированная подписка (0% скрытых комиссий с чека или гостей)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H6: Смены</a:t>
                      </a:r>
                      <a:br/>
                      <a:r>
                        <a:t>(контроль)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Текучка хостес, потеря записей и номеров гостей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семейное кафе (хостес — сестра владельца) + 1 точка с управляющим на входе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Живой таймер смены хостес, Z-отчеты и защита базы в облаке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РЫНОЧНЫЙ ПОТЕНЦИАЛ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Объем рынка HoReCa: 1.6 трлн ₸ и модель TAM / SAM / SOM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Анализ финансовой емкости ресторанного сектора Казахстана и потенциала подписочной модели: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383280" cy="16916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17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4D399"/>
                </a:solidFill>
              </a:defRPr>
            </a:pPr>
            <a:r>
              <a:t>1.6 трлн ₸ / год</a:t>
            </a:r>
          </a:p>
          <a:p>
            <a:pPr>
              <a:spcBef>
                <a:spcPts val="300"/>
              </a:spcBef>
              <a:defRPr sz="1100" b="1">
                <a:solidFill>
                  <a:srgbClr val="F9F9FB"/>
                </a:solidFill>
              </a:defRPr>
            </a:pPr>
            <a:r>
              <a:t>Емкость рынка общепита РК</a:t>
            </a:r>
          </a:p>
          <a:p>
            <a:pPr>
              <a:spcBef>
                <a:spcPts val="200"/>
              </a:spcBef>
              <a:defRPr sz="950">
                <a:solidFill>
                  <a:srgbClr val="A3AAB8"/>
                </a:solidFill>
              </a:defRPr>
            </a:pPr>
            <a:r>
              <a:t>• 25 000+ заведений в Казахстане (Алматы 6.5k, Астана 4.2k, Шымкент 3.8k, регионы 10.5k)</a:t>
            </a:r>
          </a:p>
          <a:p>
            <a:pPr>
              <a:spcBef>
                <a:spcPts val="200"/>
              </a:spcBef>
              <a:defRPr sz="950">
                <a:solidFill>
                  <a:srgbClr val="A3AAB8"/>
                </a:solidFill>
              </a:defRPr>
            </a:pPr>
            <a:r>
              <a:t>• Ежегодный рост сектора +14.2% по данным Бюро нацстатистики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508760"/>
            <a:ext cx="3383280" cy="16916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1600200"/>
            <a:ext cx="3017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B7185"/>
                </a:solidFill>
              </a:defRPr>
            </a:pPr>
            <a:r>
              <a:t>120 млрд ₸ / год</a:t>
            </a:r>
          </a:p>
          <a:p>
            <a:pPr>
              <a:spcBef>
                <a:spcPts val="300"/>
              </a:spcBef>
              <a:defRPr sz="1100" b="1">
                <a:solidFill>
                  <a:srgbClr val="F9F9FB"/>
                </a:solidFill>
              </a:defRPr>
            </a:pPr>
            <a:r>
              <a:t>Потери заведений от No-Show</a:t>
            </a:r>
          </a:p>
          <a:p>
            <a:pPr>
              <a:spcBef>
                <a:spcPts val="200"/>
              </a:spcBef>
              <a:defRPr sz="950">
                <a:solidFill>
                  <a:srgbClr val="A3AAB8"/>
                </a:solidFill>
              </a:defRPr>
            </a:pPr>
            <a:r>
              <a:t>• 15–20% столов в часы пик пустуют из-за неявок и заторов в WhatsApp</a:t>
            </a:r>
          </a:p>
          <a:p>
            <a:pPr>
              <a:spcBef>
                <a:spcPts val="200"/>
              </a:spcBef>
              <a:defRPr sz="950">
                <a:solidFill>
                  <a:srgbClr val="A3AAB8"/>
                </a:solidFill>
              </a:defRPr>
            </a:pPr>
            <a:r>
              <a:t>• Это прямая недополученная чистая выручка рестораторов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08760"/>
            <a:ext cx="3383280" cy="16916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1600200"/>
            <a:ext cx="3017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5A880"/>
                </a:solidFill>
              </a:defRPr>
            </a:pPr>
            <a:r>
              <a:t>10x – 24x ROI</a:t>
            </a:r>
          </a:p>
          <a:p>
            <a:pPr>
              <a:spcBef>
                <a:spcPts val="300"/>
              </a:spcBef>
              <a:defRPr sz="1100" b="1">
                <a:solidFill>
                  <a:srgbClr val="F9F9FB"/>
                </a:solidFill>
              </a:defRPr>
            </a:pPr>
            <a:r>
              <a:t>Окупаемость подписки PRO</a:t>
            </a:r>
          </a:p>
          <a:p>
            <a:pPr>
              <a:spcBef>
                <a:spcPts val="200"/>
              </a:spcBef>
              <a:defRPr sz="950">
                <a:solidFill>
                  <a:srgbClr val="A3AAB8"/>
                </a:solidFill>
              </a:defRPr>
            </a:pPr>
            <a:r>
              <a:t>• Тариф 25 000 ₸ окупается всего за 1 спасенный банкетный стол (чек 25–40 тыс ₸)</a:t>
            </a:r>
          </a:p>
          <a:p>
            <a:pPr>
              <a:spcBef>
                <a:spcPts val="200"/>
              </a:spcBef>
              <a:defRPr sz="950">
                <a:solidFill>
                  <a:srgbClr val="A3AAB8"/>
                </a:solidFill>
              </a:defRPr>
            </a:pPr>
            <a:r>
              <a:t>• Затраты на софт составляют менее 0.2% от оборота ресторана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64992"/>
            <a:ext cx="3383280" cy="3090672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3017520" cy="290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TAM • ОБЩИЙ РЫНОК СНГ &amp; ЦА</a:t>
            </a:r>
          </a:p>
          <a:p>
            <a:pPr>
              <a:spcBef>
                <a:spcPts val="300"/>
              </a:spcBef>
              <a:defRPr sz="2000" b="1">
                <a:solidFill>
                  <a:srgbClr val="F9F9FB"/>
                </a:solidFill>
              </a:defRPr>
            </a:pPr>
            <a:r>
              <a:t>18.6 млрд ₸ / год</a:t>
            </a:r>
          </a:p>
          <a:p>
            <a:pPr>
              <a:spcBef>
                <a:spcPts val="100"/>
              </a:spcBef>
              <a:defRPr sz="950" b="1">
                <a:solidFill>
                  <a:srgbClr val="E5D5C0"/>
                </a:solidFill>
              </a:defRPr>
            </a:pPr>
            <a:r>
              <a:t>$38.5M USD • 50 000+ заведений питания в Центральной Азии</a:t>
            </a:r>
          </a:p>
          <a:p>
            <a:pPr>
              <a:spcBef>
                <a:spcPts val="300"/>
              </a:spcBef>
              <a:defRPr sz="900">
                <a:solidFill>
                  <a:srgbClr val="A3AAB8"/>
                </a:solidFill>
              </a:defRPr>
            </a:pPr>
            <a:r>
              <a:t>• Казахстан (25k), Узбекистан (18k), Кыргызстан (4k), Азербайджан (5k)</a:t>
            </a:r>
          </a:p>
          <a:p>
            <a:pPr>
              <a:spcBef>
                <a:spcPts val="300"/>
              </a:spcBef>
              <a:defRPr sz="900">
                <a:solidFill>
                  <a:srgbClr val="A3AAB8"/>
                </a:solidFill>
              </a:defRPr>
            </a:pPr>
            <a:r>
              <a:t>• 15.0 млрд ₸ — чистые SaaS-подписки (300 000 ₸/год на точку)</a:t>
            </a:r>
          </a:p>
          <a:p>
            <a:pPr>
              <a:spcBef>
                <a:spcPts val="300"/>
              </a:spcBef>
              <a:defRPr sz="900">
                <a:solidFill>
                  <a:srgbClr val="A3AAB8"/>
                </a:solidFill>
              </a:defRPr>
            </a:pPr>
            <a:r>
              <a:t>• 3.6 млрд ₸ — финтех оборот депозитов (1.5% Kaspi QR транзакции)</a:t>
            </a:r>
          </a:p>
          <a:p>
            <a:pPr>
              <a:spcBef>
                <a:spcPts val="300"/>
              </a:spcBef>
              <a:defRPr sz="900">
                <a:solidFill>
                  <a:srgbClr val="A3AAB8"/>
                </a:solidFill>
              </a:defRPr>
            </a:pPr>
            <a:r>
              <a:t>• Огромный неосвоенный рынок без монопольного игрока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3364992"/>
            <a:ext cx="3383280" cy="3090672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456432"/>
            <a:ext cx="3017520" cy="290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4D399"/>
                </a:solidFill>
              </a:defRPr>
            </a:pPr>
            <a:r>
              <a:t>SAM • ДОСТУПНЫЙ РЫНОК РК</a:t>
            </a:r>
          </a:p>
          <a:p>
            <a:pPr>
              <a:spcBef>
                <a:spcPts val="300"/>
              </a:spcBef>
              <a:defRPr sz="2000" b="1">
                <a:solidFill>
                  <a:srgbClr val="F9F9FB"/>
                </a:solidFill>
              </a:defRPr>
            </a:pPr>
            <a:r>
              <a:t>3.6 млрд ₸ / год</a:t>
            </a:r>
          </a:p>
          <a:p>
            <a:pPr>
              <a:spcBef>
                <a:spcPts val="100"/>
              </a:spcBef>
              <a:defRPr sz="950" b="1">
                <a:solidFill>
                  <a:srgbClr val="E5D5C0"/>
                </a:solidFill>
              </a:defRPr>
            </a:pPr>
            <a:r>
              <a:t>$7.5M USD • 12 000 заведений с регулярным резервом столов</a:t>
            </a:r>
          </a:p>
          <a:p>
            <a:pPr>
              <a:spcBef>
                <a:spcPts val="300"/>
              </a:spcBef>
              <a:defRPr sz="900">
                <a:solidFill>
                  <a:srgbClr val="A3AAB8"/>
                </a:solidFill>
              </a:defRPr>
            </a:pPr>
            <a:r>
              <a:t>• Рестораны, лаундж-бары, банкетные залы и премиум-кафе Казахстана</a:t>
            </a:r>
          </a:p>
          <a:p>
            <a:pPr>
              <a:spcBef>
                <a:spcPts val="300"/>
              </a:spcBef>
              <a:defRPr sz="900">
                <a:solidFill>
                  <a:srgbClr val="A3AAB8"/>
                </a:solidFill>
              </a:defRPr>
            </a:pPr>
            <a:r>
              <a:t>• Ключевые хабы: Алматы (4.5k), Астана (3.2k), Шымкент (2.2k), регионы (2.1k)</a:t>
            </a:r>
          </a:p>
          <a:p>
            <a:pPr>
              <a:spcBef>
                <a:spcPts val="300"/>
              </a:spcBef>
              <a:defRPr sz="900">
                <a:solidFill>
                  <a:srgbClr val="A3AAB8"/>
                </a:solidFill>
              </a:defRPr>
            </a:pPr>
            <a:r>
              <a:t>• Модель: 12 000 точек × 25 000 ₸/мес (300 000 ₸ годовой LTV)</a:t>
            </a:r>
          </a:p>
          <a:p>
            <a:pPr>
              <a:spcBef>
                <a:spcPts val="300"/>
              </a:spcBef>
              <a:defRPr sz="900">
                <a:solidFill>
                  <a:srgbClr val="A3AAB8"/>
                </a:solidFill>
              </a:defRPr>
            </a:pPr>
            <a:r>
              <a:t>• Высокая концентрация и готовность платить за порядок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3364992"/>
            <a:ext cx="3383280" cy="3090672"/>
          </a:xfrm>
          <a:prstGeom prst="roundRect">
            <a:avLst/>
          </a:prstGeom>
          <a:solidFill>
            <a:srgbClr val="1A1E27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3456432"/>
            <a:ext cx="3017520" cy="290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C5A880"/>
                </a:solidFill>
              </a:defRPr>
            </a:pPr>
            <a:r>
              <a:t>SOM • ДОСТИЖИМЫЙ РЫНОК (ЦЕЛЬ 3 ГОДА)</a:t>
            </a:r>
          </a:p>
          <a:p>
            <a:pPr>
              <a:spcBef>
                <a:spcPts val="300"/>
              </a:spcBef>
              <a:defRPr sz="2000" b="1">
                <a:solidFill>
                  <a:srgbClr val="F9F9FB"/>
                </a:solidFill>
              </a:defRPr>
            </a:pPr>
            <a:r>
              <a:t>540 млн ₸ / год</a:t>
            </a:r>
          </a:p>
          <a:p>
            <a:pPr>
              <a:spcBef>
                <a:spcPts val="100"/>
              </a:spcBef>
              <a:defRPr sz="950" b="1">
                <a:solidFill>
                  <a:srgbClr val="E5D5C0"/>
                </a:solidFill>
              </a:defRPr>
            </a:pPr>
            <a:r>
              <a:t>$1.12M ARR • 1 800 подключенных заведений (15% от SAM)</a:t>
            </a:r>
          </a:p>
          <a:p>
            <a:pPr>
              <a:spcBef>
                <a:spcPts val="300"/>
              </a:spcBef>
              <a:defRPr sz="900" b="1">
                <a:solidFill>
                  <a:srgbClr val="F9F9FB"/>
                </a:solidFill>
              </a:defRPr>
            </a:pPr>
            <a:r>
              <a:t>• 🔥 45 млн ₸ MRR регулярной месячной подписки к 3-му году</a:t>
            </a:r>
          </a:p>
          <a:p>
            <a:pPr>
              <a:spcBef>
                <a:spcPts val="300"/>
              </a:spcBef>
              <a:defRPr sz="900">
                <a:solidFill>
                  <a:srgbClr val="A3AAB8"/>
                </a:solidFill>
              </a:defRPr>
            </a:pPr>
            <a:r>
              <a:t>• Год 1 (Шымкент &amp; Юг): 250 точек → 75 млн ₸ выручки (пилот)</a:t>
            </a:r>
          </a:p>
          <a:p>
            <a:pPr>
              <a:spcBef>
                <a:spcPts val="300"/>
              </a:spcBef>
              <a:defRPr sz="900">
                <a:solidFill>
                  <a:srgbClr val="A3AAB8"/>
                </a:solidFill>
              </a:defRPr>
            </a:pPr>
            <a:r>
              <a:t>• Год 2 (Алматы &amp; Астана): 850 точек → 255 млн ₸ выручки</a:t>
            </a:r>
          </a:p>
          <a:p>
            <a:pPr>
              <a:spcBef>
                <a:spcPts val="300"/>
              </a:spcBef>
              <a:defRPr sz="900">
                <a:solidFill>
                  <a:srgbClr val="A3AAB8"/>
                </a:solidFill>
              </a:defRPr>
            </a:pPr>
            <a:r>
              <a:t>• Год 3 (Регионы РК): 1 800 точек → 540 млн ₸ ARR (выход в прибыль)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РЕШЕНИЕ ПЛАТФОРМЫ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RestoKZ: Единая двусторонняя цифровая экосистема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Связка клиента и ресторана в режиме реального времени без сторонних приложений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🍽 ДЛЯ ГОСТЯ (B2C WEBAPP)</a:t>
            </a:r>
          </a:p>
          <a:p>
            <a:pPr>
              <a:spcBef>
                <a:spcPts val="400"/>
              </a:spcBef>
              <a:defRPr sz="1150">
                <a:solidFill>
                  <a:srgbClr val="E5D5C0"/>
                </a:solidFill>
              </a:defRPr>
            </a:pPr>
            <a:r>
              <a:t>Telegram Mini App — открывается мгновенно в 1 клик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⚡ Бронирование за 30 секунд без скачивания приложений из App Store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🪑 Интерактивный выбор столика на реальной схеме зала (VIP, топчан, окно)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📖 Просмотр фото интерьера, актуального меню и среднего чека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🔔 Автоматические статусы и напоминания в Telegram (защита от забывчивости)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🌐 Поддержка 3 языков (Казахский, Русский, Английский)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5A880"/>
                </a:solidFill>
              </a:defRPr>
            </a:pPr>
            <a:r>
              <a:t>👑 ДЛЯ РЕСТОРАНА (RESTOKZ PRO B2B)</a:t>
            </a:r>
          </a:p>
          <a:p>
            <a:pPr>
              <a:spcBef>
                <a:spcPts val="400"/>
              </a:spcBef>
              <a:defRPr sz="1150">
                <a:solidFill>
                  <a:srgbClr val="E5D5C0"/>
                </a:solidFill>
              </a:defRPr>
            </a:pPr>
            <a:r>
              <a:t>Мобильный терминал хостес и управляющего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📋 Живой журнал заявок со статусами (Новые, В брони, За столом, Отмена)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🎯 Умные контекстные кнопки действий в 1 клик (Подтвердить / Посадить)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🗺 Интерактивная карта зала с цветовой занятостью столов в реальном времени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⏱ Контроль рабочей смены хостес, живой таймер и итоговый Z-отчет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🔔 Мгновенные звуковые консьерж-уведомления (Chime) о новых бронях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ИНТЕРФЕЙС ГОСТЯ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Telegram Mini App: Бронирование столика в 3 касания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Максимальная конверсия за счет нулевого трения — без логинов, SMS и паролей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5A880"/>
                </a:solidFill>
              </a:defRPr>
            </a:pPr>
            <a:r>
              <a:t>1. Умный каталог ресторанов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Гость выбирает город (Алматы, Астана, Шымкент), фильтрует по кухне (Казахская, Итальянская, Восточная) и находит заведение.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2. Выбор даты, времени и компании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Сетка тайм-слотов (обед, ужин) и количества персон. Система сразу показывает доступные столы.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3. Интерактивная схема зала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Гость может выбрать конкретное место: панорамное окно, летняя терраса, VIP-кабина, топчан или дастархан.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4. Меню и детальная информация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Цены, фирменные блюда, фотографии порций, геолокация и прямой переход в 2GIS / Instagram.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5. Автоматическое подтверждение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Билет бронирования сохраняется в Telegram. За 2 часа до визита бот отправляет вежливое напоминание.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uest_catalog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uest_restaurant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ТЕРМИНАЛ РЕСТОРАНА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RestoKZ PRO: Журнал броней с контекстными действиями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Специально разработан под экраны смартфонов хостес с крупными шрифтами и тактильным откликом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5A880"/>
                </a:solidFill>
              </a:defRPr>
            </a:pPr>
            <a:r>
              <a:t>⚡ Контекстные умные действия в 1 клик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Кнопки динамически подстраиваются под статус заявки:</a:t>
            </a:r>
            <a:br/>
            <a:r>
              <a:t>• Ожидает: [✅ Подтвердить] + [❌ Отказ]</a:t>
            </a:r>
            <a:br/>
            <a:r>
              <a:t>• Подтверждена: [🥂 Посадить за стол] + [Отмена]</a:t>
            </a:r>
            <a:br/>
            <a:r>
              <a:t>• Гости сидят: [🔓 Стол освободился] + [↩ В бронь]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🔍 Мгновенный поиск и фильтрация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Поиск за доли секунды по имени гостя, номеру телефона или #ID заявки. Сегментный переключатель дат: «Все дни | Сегодня | Завтра».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📊 Живой KPI-дашборд смены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Крупные показатели вверху экрана: сколько заявок ждут ответа (⏳), сколько столов в брони (✅) и сколько гостей обслужено за смену (👥).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🔔 Звуковые консьерж-уведомления (Chime)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При поступлении новой онлайн-заявки терминал издает благородный мягкий гонг (Web Audio API), чтобы хостес не пропустила гостя.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🛡 Исключение ошибок человеческого фактора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Невозможно случайно удалить бронь или повторно отменить уже отклоненную заявку. Полная синхронизация с базой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terminal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СХЕМА РАССАДКИ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Интерактивная карта зала: Наглядный контроль занятости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Никаких накладок, путаницы столов и потери контроля в часы пиковой загрузки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🟢 Наглядная цветовая легенда статусов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• Изумрудный: стол свободен для посадки</a:t>
            </a:r>
            <a:br/>
            <a:r>
              <a:t>• Золотой: стол подтвержден в бронь на выбранное время</a:t>
            </a:r>
            <a:br/>
            <a:r>
              <a:t>• Лазурный: гости уже сидят за столом</a:t>
            </a:r>
            <a:br/>
            <a:r>
              <a:t>• Янтарный: новая заявка ожидает подтверждения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⚡ Посадка от двери в 2 клика (Walk-in)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Гости пришли с улицы без брони? Хостес просто тапает на свободный стол в зале — карточка посадки открывается мгновенно.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🛡 Защита от овербукинга и коллизий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Система автоматически блокирует стол на 2 часа вокруг времени брони. Никаких конфликтов из-за посадки двух компаний на один диван.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🏢 Зонирование ресторана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Четкое разделение на зоны: основной зал, панорамные окна, летняя терраса, тихая зона, топчаны и VIP-кабины.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floor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УПРАВЛЕНИЕ ПЕРСОНАЛОМ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Рабочая смена и Z-отчётность: Полная прозрачность для владельца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Хостес подотчетна системе, а управляющий видит реальные цифры загрузки зала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A880"/>
                </a:solidFill>
              </a:defRPr>
            </a:pPr>
            <a:r>
              <a:t>⏱ Интерактивный статус-бар смены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В шапке терминала отображается пульсирующий статус с живым таймером (например, «● Смена 3ч 45м»). Данные сохраняются при перезагрузках.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📊 Автоматический подсчет метрик смены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Терминал в реальном времени считает:</a:t>
            </a:r>
            <a:br/>
            <a:r>
              <a:t>• Количество поступивших и обработанных заявок</a:t>
            </a:r>
            <a:br/>
            <a:r>
              <a:t>• Суммарное количество реально посаженных гостей</a:t>
            </a:r>
            <a:br/>
            <a:r>
              <a:t>• Количество отмен и отказов с причинами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🏁 Закрытие смены по кнопке и Z-отчет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Хостес не может просто уйти — по окончании дня она нажимает «Завершить рабочую смену». Формируется итоговая сводка смены для передачи управляющему.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👤 Персональная ответственность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Каждая смена привязана к имени дежурного администратора, исключая перекладывание вины за потерянные брони.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shif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СОВРЕМЕННЫЙ UX/UI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Мультилокация и быстрое управление сетью ресторанов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Замена устаревших браузерных элементов на премиальные Bottom Sheets и боковое меню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E5D5C0"/>
                </a:solidFill>
              </a:defRPr>
            </a:pPr>
            <a:r>
              <a:t>🏛 Кастомный Luxury Bottom Sheet выбора заведения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Вместо архаичного селектора — современная шторка с поиском, бейджами городов, количеством столов и моментальным переключением филиалов.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☰ Боковое меню (Side Drawer)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Все служебные функции аккуратно спрятаны под гамбургер-меню, освобождая экран терминала для главного — броней и карты зала.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🌐 Трехъязычный интерфейс (RU / KZ / EN)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Крупные удобные кнопки переключения языка для сотрудников и гостей в любом регионе Казахстана.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🍽 Быстрый переход «Терминал ↔ Витрина гостя»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Хостес может в любой момент открыть клиентскую витрину и увидеть свой ресторан глазами гостя.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⚡ Тактильный отклик и анимации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Плавная физика сжатия кнопок (Spring physics), адаптивность под Home Bar iPhone (Safe Area).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rest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dmin_drawer_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НАСТРОЙКА И КАСТОМИЗАЦИЯ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Конструктор зала и Управление рестораном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Полная автономия заведения — добавление точек, настройка столов и блюд за 5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🏢 Профиль &amp; Соцсети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Редактирование адреса, телефона и режима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Прямые ссылки на 2GIS, Instagram, WhatsApp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Указание среднего чека и концепта кухни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Регистрация нового филиала в 1 клик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5A880"/>
                </a:solidFill>
              </a:defRPr>
            </a:pPr>
            <a:r>
              <a:t>🍽 Электронное Меню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Добавление блюд по категориям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Загрузка фото, граммовки и цен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Мгновенное скрытие блюд на «стоп-листе»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Синхронизация меню с витриной гостя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4D399"/>
                </a:solidFill>
              </a:defRPr>
            </a:pPr>
            <a:r>
              <a:t>🪑 Конструктор Столов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Добавление столов в зал с номерами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Вместимость: 2, 4, 6, 8, 10, 12+ персон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Выбор зоны (У окна, Терраса, VIP, Топчан)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Описание столика для хостес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КОНКУРЕНТНЫЙ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Комплексная матрица: Сравнение 5 ключевых альтернатив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Прямое сопоставление RestoKZ PRO с существующими решениями на рынке Казахстана по 8 параметрам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5911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737360"/>
                <a:gridCol w="1737360"/>
                <a:gridCol w="1737360"/>
                <a:gridCol w="1737360"/>
                <a:gridCol w="1856231"/>
              </a:tblGrid>
              <a:tr h="5181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Критерий / Решение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Тетрадь + WhatsApp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2GIS Бронь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Каталоги (Restolife)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Тяжелые POS (iiko)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0B0D10"/>
                          </a:solidFill>
                        </a:defRPr>
                      </a:pPr>
                      <a:r>
                        <a:t>👑 RestoKZ PRO</a:t>
                      </a:r>
                    </a:p>
                  </a:txBody>
                  <a:tcPr>
                    <a:solidFill>
                      <a:srgbClr val="C5A88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Скорость брони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15–40 мин (ожидание)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3–5 мин (окно 2GIS)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5–10 мин (перезвон)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Ручная посадка у стойки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⚡ 30 секунд (в Telegram)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Барьер для гостя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Звонок / аудио в чат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Установка приложения 2GIS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Переход на сайт, логин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Только при личном визите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⚡ 0 (Mini App без смс)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Защита от No-Show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0% (нет автоконтроля)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Слабая (пассивное СМС)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0% (нет напоминаний)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Только статус на кассе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🛡 Высокая (пуш + отмена)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Стоимость для точки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0 ₸, но убытки до 450к₸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Пакеты от 80 000 ₸/мес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Комиссия 10-15% с чека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Лицензия от 40к₸ + ПК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✅ Фиксир. 20–25 тыс ₸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Мобильность хостес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Хаос чатов смартфона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Неудобно, десктоп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мобильного софта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Нужен стационарный ПК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📱 Легкий мобильный PWA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Карта зала / зоны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Каракули в блокноте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Только список текстом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схемы рассадки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✅ Есть, но на ПК кассы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🗺 Живая шахматка зала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Зонирование зала и Walk-in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Частично (забывают)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Сложный ввод, нет зон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Без интерактивных зон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учета посадки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👑 100% (Карта зон + Walk-in)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Владение базой гостей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У хостес (теряется)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Принадлежит 2GIS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Принадлежит агрегатору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На локальном ПК кассы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🔒 Принадлежит заведению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СТРАТЕГИЯ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Позиционирование: «Голубой океан» RestoKZ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Мы не конкурируем с монополистами (2GIS, Kaspi, iiko), а создаем с ними взаимовыгодный симбиоз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🤝 1. Симбиоз с 2GIS и Instagram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Заведения тратят до 1.5 млн ₸ на рекламу. Сейчас трафик сливается в WhatsApp с конверсией всего 4%.</a:t>
            </a:r>
            <a:br/>
            <a:br/>
            <a:r>
              <a:t>Ссылка на RestoKZ Mini App в шапке Instagram и в карточке 2GIS увеличивает конверсию рекламы в реальную посадку в 3-4 раза. Мы монетизируем их трафик без войны.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💻 2. Симбиоз с кассовыми ERP (iiko / R-Keeper)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iiko идеально считает себестоимость стейков на кухне и склад, но слишком громоздка для смартфона хостес у входной двери.</a:t>
            </a:r>
            <a:br/>
            <a:br/>
            <a:r>
              <a:t>RestoKZ закрывает узкую боль мобильной посадки зала и приема гостей, не требуя от ресторана дорогостоящей смены касс.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🛡 3. Локальный защитный ров (Local Moat)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Ни один зарубежный сервис не понимает, что такое «бронь топчана на құдалық на 15 человек» или «звонок от Баке с просьбой занять лучший стол».</a:t>
            </a:r>
            <a:br/>
            <a:br/>
            <a:r>
              <a:t>Интерфейс на казахском языке и модуль «По звонку» за 3 секунды создают непреодолимый барьер для внешних конкурентов.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Тарифные планы и окупаемость для заведения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Формула 1:1 — окупается всего за 1 спасенный стол в месяц (чек от 25 000 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9F9FB"/>
                </a:solidFill>
              </a:defRPr>
            </a:pPr>
            <a:r>
              <a:t>ТАРИФ «СТАРТ»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20 000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заведение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До 12 столиков в заведении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Гостевой Telegram Mini App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Журнал онлайн-бронирований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Напоминания гостям в Telegram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Техническая поддержка 7 дней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A1E27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ТАРИФ «PRO ХИТ»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25 000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заведение (Рекомендуемый)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Неограниченное число столов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Интерактивная карта зала и шахматка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Управление рабочей сменой и Z-отчет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Звуковые уведомления (Chime)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Модуль Walk-in (бронь от двери)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Приоритетная поддержка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ТАРИФ «СЕТЬ / VIP»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35 000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точку (для сетей)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Всё, что входит в тариф PRO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Единый мультилокационный кабинет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Неограниченное число филиалов сети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Персональный менеджер внедрения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Кастомизация под брендбук ресторана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СТРАТЕГИЯ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Дорожная карта: От пилота к экосистеме №1 в Казахстане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Поэтапное расширение функционала и ликвидация No-Show до абсолютного нуля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v2.4 Live (РЕАЛИЗОВАНО)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Полноценный гостевой WebApp с выбором залов и меню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Мобильный терминал хостес с контекстными кнопками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Интерактивная карта зала с цветовой занятостью столов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Учет смены персонала, Z-отчеты и консьерж-гонг Chime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Мультилокация и трехъязычие (KZ / RU / 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Q4 2026: Kaspi QR Депозиты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Взимание онлайн-предоплаты через Kaspi QR при бронировании VIP-кабин и топчанов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100% ликвидация проблемы неявки (No-Show)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В CustDev 6 из 10 гостей подтвердили готовность внести аванс 5 000 – 10 000 ₸ ради гарантии лучшего стола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Дополнительный финтех-поток монетизации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</a:defRPr>
            </a:pPr>
            <a:r>
              <a:t>Q1 2027: AI-Голос &amp; WhatsApp API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Голосовой AI-ассистент для автоматического приема звонков по телефону на казахском и русском языках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Официальный WhatsApp Business API шлюз для автоматических ответов на стандартные вопросы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Масштабирование на Алматы, Астану, Ташкент и Баку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ДЕМОНСТРАЦИЯ И КОНТАКТЫ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Протестируйте систему RestoKZ прямо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Готовое боевое решение, готовое к пилотному внедрению в заведениях уже сегодня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🚀 ССЫЛКИ ДЛЯ ТЕСТИРОВАНИЯ В РЕАЛЬНОМ ВРЕМЕНИ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🍽 Гостевая витрина Mini App (Live):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👑 Терминал хостес RestoKZ PRO: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https://sp1ceman.github.io/restokz-bot/admin.html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📊 Интерактивная Web-презентация: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https://sp1ceman.github.io/restokz-bot/presentation.html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💬 Telegram бот сервиса: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@RestoKZ_Bot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⚡ Время подключения точки: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Менее 1 дня на личном смартфоне хостес без покупки оборудования.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45920"/>
            <a:ext cx="48463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828800"/>
            <a:ext cx="4297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💡 РЕЗЮМЕ ДЛЯ ИНВЕСТОРА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Рынок проверен фактами: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20 интервью. Боль No-Show и коллапс WhatsApp подтверждены подавляющим большинством заведений.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Unit-экономика сходится: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Тариф 25 000 ₸ окупается всего за 1 спасенный стол в месяц. Очевидный ROI.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Защитный ров (Local Moat):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Глубокая адаптация под процессы заведений Казахстана (Walk-in, зонирование VIP, RU/KZ/EN) защищает от глобальных гигантов.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Команда и готовность: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Продукт работает в продакшене. Пилотный запуск 30 ресторанов начинается сразу после раунда.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