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3152" cy="3474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5A880"/>
                </a:solidFill>
                <a:latin typeface="Segoe UI"/>
              </a:defRPr>
            </a:pPr>
            <a:r>
              <a:t>👑 RESTOKZ &amp; RESTOKZ PRO</a:t>
            </a:r>
          </a:p>
          <a:p>
            <a:pPr>
              <a:spcBef>
                <a:spcPts val="1200"/>
              </a:spcBef>
              <a:defRPr sz="2900" b="1">
                <a:solidFill>
                  <a:srgbClr val="F4F2EE"/>
                </a:solidFill>
                <a:latin typeface="Georgia"/>
              </a:defRPr>
            </a:pPr>
            <a:r>
              <a:t>Цифровая экосистема бронирования и умного управления посадкой</a:t>
            </a:r>
          </a:p>
          <a:p>
            <a:pPr>
              <a:spcBef>
                <a:spcPts val="1000"/>
              </a:spcBef>
              <a:defRPr sz="1350">
                <a:solidFill>
                  <a:srgbClr val="DFCAAB"/>
                </a:solidFill>
                <a:latin typeface="Segoe UI"/>
              </a:defRPr>
            </a:pPr>
            <a:r>
              <a:t>Устранение No-Show • Полный контроль зала • Выручка ресторанов без комиссий агрегаторов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5120640"/>
            <a:ext cx="2148840" cy="10058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16636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F2EE"/>
                </a:solidFill>
              </a:defRPr>
            </a:pPr>
            <a:r>
              <a:t>📱 Telegram Mini App</a:t>
            </a:r>
          </a:p>
          <a:p>
            <a:pPr>
              <a:spcBef>
                <a:spcPts val="300"/>
              </a:spcBef>
              <a:defRPr sz="950">
                <a:solidFill>
                  <a:srgbClr val="9CA3AF"/>
                </a:solidFill>
              </a:defRPr>
            </a:pPr>
            <a:r>
              <a:t>Бронирование гостем за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5120640"/>
            <a:ext cx="2148840" cy="10058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516636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F2EE"/>
                </a:solidFill>
              </a:defRPr>
            </a:pPr>
            <a:r>
              <a:t>🪑 Терминал Хостес PRO</a:t>
            </a:r>
          </a:p>
          <a:p>
            <a:pPr>
              <a:spcBef>
                <a:spcPts val="300"/>
              </a:spcBef>
              <a:defRPr sz="950">
                <a:solidFill>
                  <a:srgbClr val="9CA3AF"/>
                </a:solidFill>
              </a:defRPr>
            </a:pPr>
            <a:r>
              <a:t>Живая интерактивная карта зала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5120640"/>
            <a:ext cx="2148840" cy="10058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516636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F2EE"/>
                </a:solidFill>
              </a:defRPr>
            </a:pPr>
            <a:r>
              <a:t>⚡ Проверено CustDev</a:t>
            </a:r>
          </a:p>
          <a:p>
            <a:pPr>
              <a:spcBef>
                <a:spcPts val="300"/>
              </a:spcBef>
              <a:defRPr sz="950">
                <a:solidFill>
                  <a:srgbClr val="9CA3AF"/>
                </a:solidFill>
              </a:defRPr>
            </a:pPr>
            <a:r>
              <a:t>20 интервью: рестораторы и гости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75904" y="1060704"/>
            <a:ext cx="2450592" cy="5193792"/>
          </a:xfrm>
          <a:prstGeom prst="roundRect">
            <a:avLst/>
          </a:prstGeom>
          <a:solidFill>
            <a:srgbClr val="1C1F26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dmin_terminal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097280"/>
            <a:ext cx="2377440" cy="51206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747504" y="1517904"/>
            <a:ext cx="2084832" cy="4370832"/>
          </a:xfrm>
          <a:prstGeom prst="roundRect">
            <a:avLst/>
          </a:prstGeom>
          <a:solidFill>
            <a:srgbClr val="1C1F26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uest_catalog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554480"/>
            <a:ext cx="2011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5A880"/>
                </a:solidFill>
                <a:latin typeface="Segoe UI"/>
              </a:defRPr>
            </a:pPr>
            <a:r>
              <a:t>ПРОБЛЕМА РЫНКА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4F2EE"/>
                </a:solidFill>
                <a:latin typeface="Georgia"/>
              </a:defRPr>
            </a:pPr>
            <a:r>
              <a:t>Почему рестораны Казахстана теряют до 25% выручки каждый уикенд?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CA3AF"/>
                </a:solidFill>
                <a:latin typeface="Segoe UI"/>
              </a:defRPr>
            </a:pPr>
            <a:r>
              <a:t>Исследование 20+ заведений (Шымкент, Алматы, Астана) выявило системный кризис ручного управления бронями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7185"/>
                </a:solidFill>
              </a:defRPr>
            </a:pPr>
            <a:r>
              <a:t>1. Хаос в WhatsApp и блокнотах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📞 Ручная переписка отнимает 3-4 часа хостес в день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⏳ В часы пик до 30% входящих звонков и аудио без ответа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📝 Потери броней из-за неразборчивых записей в тетрадях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📉 Нет единой базы гостей и истории посещений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2. Эпидемия No-Show (неявки)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❌ 20-25% забронированных столов в выходные пустуют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🤷 Гости бронируют 2-3 места сразу и не предупреждают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💸 Ресторан отказывает гостям у двери («все занято»), а стол пуст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💔 Прямой убыток: от 100 000 до 450 000 ₸ за один вечер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Ловушка комиссий агрегаторов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💳 Агрегаторы берут 10-15% с чека или от 500 ₸ за гостя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💻 Кассовые POS (iiko/R-Keeper) тяжелы для смартфонов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📱 У хостес нет легкого мобильного терминала для зала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🔒 База гостей остается у сторонних сервисов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5A880"/>
                </a:solidFill>
                <a:latin typeface="Segoe UI"/>
              </a:defRPr>
            </a:pPr>
            <a:r>
              <a:t>ПРОДУКТОВАЯ ВАЛИДАЦИЯ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4F2EE"/>
                </a:solidFill>
                <a:latin typeface="Georgia"/>
              </a:defRPr>
            </a:pPr>
            <a:r>
              <a:t>Customer Development: 6 гипотез, проверенных на 20 интервью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CA3AF"/>
                </a:solidFill>
                <a:latin typeface="Segoe UI"/>
              </a:defRPr>
            </a:pPr>
            <a:r>
              <a:t>10 рестораторов и администраторов (B2B) + 10 реальных гостей (B2C) в г. Шымкент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591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3108960"/>
                <a:gridCol w="3044952"/>
              </a:tblGrid>
              <a:tr h="666205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C5A880"/>
                          </a:solidFill>
                        </a:defRPr>
                      </a:pPr>
                      <a:r>
                        <a:t>Гипотеза / Код</a:t>
                      </a:r>
                    </a:p>
                  </a:txBody>
                  <a:tcPr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C5A880"/>
                          </a:solidFill>
                        </a:defRPr>
                      </a:pPr>
                      <a:r>
                        <a:t>Исходное предположение</a:t>
                      </a:r>
                    </a:p>
                  </a:txBody>
                  <a:tcPr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C5A880"/>
                          </a:solidFill>
                        </a:defRPr>
                      </a:pPr>
                      <a:r>
                        <a:t>Факты CustDev &amp; Инсайт</a:t>
                      </a:r>
                    </a:p>
                  </a:txBody>
                  <a:tcPr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E1013"/>
                          </a:solidFill>
                        </a:defRPr>
                      </a:pPr>
                      <a:r>
                        <a:t>Решение в RestoKZ PRO</a:t>
                      </a:r>
                    </a:p>
                  </a:txBody>
                  <a:tcPr>
                    <a:solidFill>
                      <a:srgbClr val="C5A880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4F2EE"/>
                          </a:solidFill>
                        </a:defRPr>
                      </a:pPr>
                      <a:r>
                        <a:t>H1: Боль No-Show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F2EE"/>
                          </a:solidFill>
                        </a:defRPr>
                      </a:pPr>
                      <a:r>
                        <a:t>Рестораны теряют до 25% столов на неявках гостей без предупреждения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F2EE"/>
                          </a:solidFill>
                        </a:defRPr>
                      </a:pPr>
                      <a:r>
                        <a:t>✅ 10/10 подтвердили. Убытки до 450к₸/уикенд. Инсайт: гостям стыдно звонить отменять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FCAAB"/>
                          </a:solidFill>
                        </a:defRPr>
                      </a:pPr>
                      <a:r>
                        <a:t>Пуш за 2ч + кнопка отмены в 1 клик (освобождает стол мгновенно)</a:t>
                      </a:r>
                    </a:p>
                  </a:txBody>
                  <a:tcPr>
                    <a:solidFill>
                      <a:srgbClr val="1C20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4F2EE"/>
                          </a:solidFill>
                        </a:defRPr>
                      </a:pPr>
                      <a:r>
                        <a:t>H2: Затор WhatsApp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F2EE"/>
                          </a:solidFill>
                        </a:defRPr>
                      </a:pPr>
                      <a:r>
                        <a:t>WhatsApp захлебывается в часы пик из-за десятков голосовых сообщений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F2EE"/>
                          </a:solidFill>
                        </a:defRPr>
                      </a:pPr>
                      <a:r>
                        <a:t>✅ 9/10 подтвердили. Задержка ответа 40-90 мин, слив 15-20 столов за вечер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FCAAB"/>
                          </a:solidFill>
                        </a:defRPr>
                      </a:pPr>
                      <a:r>
                        <a:t>Self-service WebApp: прямая бронь со свободного слота за 30 секунд</a:t>
                      </a:r>
                    </a:p>
                  </a:txBody>
                  <a:tcPr>
                    <a:solidFill>
                      <a:srgbClr val="1C20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4F2EE"/>
                          </a:solidFill>
                        </a:defRPr>
                      </a:pPr>
                      <a:r>
                        <a:t>H3: Барьер AppStore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F2EE"/>
                          </a:solidFill>
                        </a:defRPr>
                      </a:pPr>
                      <a:r>
                        <a:t>Гости откажутся скачивать нативное приложение на 80Мб ради брони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F2EE"/>
                          </a:solidFill>
                        </a:defRPr>
                      </a:pPr>
                      <a:r>
                        <a:t>✅ 10/10 гостей отказались от установки отдельных приложений с СМС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FCAAB"/>
                          </a:solidFill>
                        </a:defRPr>
                      </a:pPr>
                      <a:r>
                        <a:t>Telegram Mini App: запуск в 1 касание без установок и регистраций</a:t>
                      </a:r>
                    </a:p>
                  </a:txBody>
                  <a:tcPr>
                    <a:solidFill>
                      <a:srgbClr val="1C20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4F2EE"/>
                          </a:solidFill>
                        </a:defRPr>
                      </a:pPr>
                      <a:r>
                        <a:t>H4: Менталитет зала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F2EE"/>
                          </a:solidFill>
                        </a:defRPr>
                      </a:pPr>
                      <a:r>
                        <a:t>Важны топчаны, VIP-кабины и звонки директору («от Кайреке»)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F2EE"/>
                          </a:solidFill>
                        </a:defRPr>
                      </a:pPr>
                      <a:r>
                        <a:t>✅ 10/10 подтвердили. Конфликты из-за плохих столов у проходов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FCAAB"/>
                          </a:solidFill>
                        </a:defRPr>
                      </a:pPr>
                      <a:r>
                        <a:t>Зонирование (Топчан, VIP, Окно) + модуль 'По звонку' за 3 сек</a:t>
                      </a:r>
                    </a:p>
                  </a:txBody>
                  <a:tcPr>
                    <a:solidFill>
                      <a:srgbClr val="1C20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4F2EE"/>
                          </a:solidFill>
                        </a:defRPr>
                      </a:pPr>
                      <a:r>
                        <a:t>H5: Готовность платить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F2EE"/>
                          </a:solidFill>
                        </a:defRPr>
                      </a:pPr>
                      <a:r>
                        <a:t>Рестораторы заплатят 35–49 тыс ₸/мес вместо комиссий агрегаторов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F2EE"/>
                          </a:solidFill>
                        </a:defRPr>
                      </a:pPr>
                      <a:r>
                        <a:t>✅ 8/10 готовы платить. Окупается за 1 банкетный стол на 8 персон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FCAAB"/>
                          </a:solidFill>
                        </a:defRPr>
                      </a:pPr>
                      <a:r>
                        <a:t>Фиксированная подписка (0% скрытых комиссий с чека или гостей)</a:t>
                      </a:r>
                    </a:p>
                  </a:txBody>
                  <a:tcPr>
                    <a:solidFill>
                      <a:srgbClr val="1C202A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4F2EE"/>
                          </a:solidFill>
                        </a:defRPr>
                      </a:pPr>
                      <a:r>
                        <a:t>H6: Контроль персонала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F2EE"/>
                          </a:solidFill>
                        </a:defRPr>
                      </a:pPr>
                      <a:r>
                        <a:t>Владельцам не хватает контроля смен хостес и защиты гостевой базы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F2EE"/>
                          </a:solidFill>
                        </a:defRPr>
                      </a:pPr>
                      <a:r>
                        <a:t>✅ 10/10 управляющих. Журналы теряются, хостес уходят с номерами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FCAAB"/>
                          </a:solidFill>
                        </a:defRPr>
                      </a:pPr>
                      <a:r>
                        <a:t>Живой таймер смены хостес, Z-отчеты и облачная база гостей</a:t>
                      </a:r>
                    </a:p>
                  </a:txBody>
                  <a:tcPr>
                    <a:solidFill>
                      <a:srgbClr val="1C20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5A880"/>
                </a:solidFill>
                <a:latin typeface="Segoe UI"/>
              </a:defRPr>
            </a:pPr>
            <a:r>
              <a:t>РЕШЕНИЕ ПЛАТФОРМЫ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4F2EE"/>
                </a:solidFill>
                <a:latin typeface="Georgia"/>
              </a:defRPr>
            </a:pPr>
            <a:r>
              <a:t>RestoKZ: Единая двусторонняя цифровая экосистема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CA3AF"/>
                </a:solidFill>
                <a:latin typeface="Segoe UI"/>
              </a:defRPr>
            </a:pPr>
            <a:r>
              <a:t>Связка клиента и ресторана в режиме реального времени без сторонних приложений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🍽 ДЛЯ ГОСТЯ (B2C WEBAPP)</a:t>
            </a:r>
          </a:p>
          <a:p>
            <a:pPr>
              <a:spcBef>
                <a:spcPts val="400"/>
              </a:spcBef>
              <a:defRPr sz="1100">
                <a:solidFill>
                  <a:srgbClr val="DFCAAB"/>
                </a:solidFill>
              </a:defRPr>
            </a:pPr>
            <a:r>
              <a:t>Telegram Mini App — открывается мгновенно в 1 клик</a:t>
            </a:r>
          </a:p>
          <a:p>
            <a:pPr>
              <a:spcBef>
                <a:spcPts val="1000"/>
              </a:spcBef>
              <a:defRPr sz="1100">
                <a:solidFill>
                  <a:srgbClr val="F4F2EE"/>
                </a:solidFill>
              </a:defRPr>
            </a:pPr>
            <a:r>
              <a:t>⚡ Бронирование за 30 секунд без скачивания приложений из App Store</a:t>
            </a:r>
          </a:p>
          <a:p>
            <a:pPr>
              <a:spcBef>
                <a:spcPts val="1000"/>
              </a:spcBef>
              <a:defRPr sz="1100">
                <a:solidFill>
                  <a:srgbClr val="F4F2EE"/>
                </a:solidFill>
              </a:defRPr>
            </a:pPr>
            <a:r>
              <a:t>🪑 Интерактивный выбор столика на реальной схеме зала (VIP, топчан, окно)</a:t>
            </a:r>
          </a:p>
          <a:p>
            <a:pPr>
              <a:spcBef>
                <a:spcPts val="1000"/>
              </a:spcBef>
              <a:defRPr sz="1100">
                <a:solidFill>
                  <a:srgbClr val="F4F2EE"/>
                </a:solidFill>
              </a:defRPr>
            </a:pPr>
            <a:r>
              <a:t>📖 Просмотр фото интерьера, актуального меню и среднего чека</a:t>
            </a:r>
          </a:p>
          <a:p>
            <a:pPr>
              <a:spcBef>
                <a:spcPts val="1000"/>
              </a:spcBef>
              <a:defRPr sz="1100">
                <a:solidFill>
                  <a:srgbClr val="F4F2EE"/>
                </a:solidFill>
              </a:defRPr>
            </a:pPr>
            <a:r>
              <a:t>🔔 Автоматические статусы и напоминания в Telegram (защита от забывчивости)</a:t>
            </a:r>
          </a:p>
          <a:p>
            <a:pPr>
              <a:spcBef>
                <a:spcPts val="1000"/>
              </a:spcBef>
              <a:defRPr sz="1100">
                <a:solidFill>
                  <a:srgbClr val="F4F2EE"/>
                </a:solidFill>
              </a:defRPr>
            </a:pPr>
            <a:r>
              <a:t>🌐 Поддержка 3 языков (Казахский, Русский, Английский)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880"/>
                </a:solidFill>
              </a:defRPr>
            </a:pPr>
            <a:r>
              <a:t>👑 ДЛЯ РЕСТОРАНА (RESTOKZ PRO B2B)</a:t>
            </a:r>
          </a:p>
          <a:p>
            <a:pPr>
              <a:spcBef>
                <a:spcPts val="400"/>
              </a:spcBef>
              <a:defRPr sz="1100">
                <a:solidFill>
                  <a:srgbClr val="DFCAAB"/>
                </a:solidFill>
              </a:defRPr>
            </a:pPr>
            <a:r>
              <a:t>Мобильный терминал хостес и управляющего</a:t>
            </a:r>
          </a:p>
          <a:p>
            <a:pPr>
              <a:spcBef>
                <a:spcPts val="1000"/>
              </a:spcBef>
              <a:defRPr sz="1100">
                <a:solidFill>
                  <a:srgbClr val="F4F2EE"/>
                </a:solidFill>
              </a:defRPr>
            </a:pPr>
            <a:r>
              <a:t>📋 Живой журнал заявок со статусами (Новые, В брони, За столом, Отмена)</a:t>
            </a:r>
          </a:p>
          <a:p>
            <a:pPr>
              <a:spcBef>
                <a:spcPts val="1000"/>
              </a:spcBef>
              <a:defRPr sz="1100">
                <a:solidFill>
                  <a:srgbClr val="F4F2EE"/>
                </a:solidFill>
              </a:defRPr>
            </a:pPr>
            <a:r>
              <a:t>🎯 Умные контекстные кнопки действий в 1 клик (Подтвердить / Посадить)</a:t>
            </a:r>
          </a:p>
          <a:p>
            <a:pPr>
              <a:spcBef>
                <a:spcPts val="1000"/>
              </a:spcBef>
              <a:defRPr sz="1100">
                <a:solidFill>
                  <a:srgbClr val="F4F2EE"/>
                </a:solidFill>
              </a:defRPr>
            </a:pPr>
            <a:r>
              <a:t>🗺 Интерактивная карта зала с цветовой занятостью столов в реальном времени</a:t>
            </a:r>
          </a:p>
          <a:p>
            <a:pPr>
              <a:spcBef>
                <a:spcPts val="1000"/>
              </a:spcBef>
              <a:defRPr sz="1100">
                <a:solidFill>
                  <a:srgbClr val="F4F2EE"/>
                </a:solidFill>
              </a:defRPr>
            </a:pPr>
            <a:r>
              <a:t>⏱ Контроль рабочей смены хостес, живой таймер и итоговый Z-отчет</a:t>
            </a:r>
          </a:p>
          <a:p>
            <a:pPr>
              <a:spcBef>
                <a:spcPts val="1000"/>
              </a:spcBef>
              <a:defRPr sz="1100">
                <a:solidFill>
                  <a:srgbClr val="F4F2EE"/>
                </a:solidFill>
              </a:defRPr>
            </a:pPr>
            <a:r>
              <a:t>🔔 Мгновенные звуковые консьерж-уведомления (Chime) о новых бронях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5A880"/>
                </a:solidFill>
                <a:latin typeface="Segoe UI"/>
              </a:defRPr>
            </a:pPr>
            <a:r>
              <a:t>ИНТЕРФЕЙС ГОСТЯ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4F2EE"/>
                </a:solidFill>
                <a:latin typeface="Georgia"/>
              </a:defRPr>
            </a:pPr>
            <a:r>
              <a:t>Telegram Mini App: Бронирование столика в 3 касания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CA3AF"/>
                </a:solidFill>
                <a:latin typeface="Segoe UI"/>
              </a:defRPr>
            </a:pPr>
            <a:r>
              <a:t>Максимальная конверсия за счет нулевого трения — без логинов, SMS и паролей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A880"/>
                </a:solidFill>
              </a:defRPr>
            </a:pPr>
            <a:r>
              <a:t>1. Умный каталог ресторанов</a:t>
            </a:r>
          </a:p>
          <a:p>
            <a:pPr>
              <a:spcBef>
                <a:spcPts val="200"/>
              </a:spcBef>
              <a:defRPr sz="1050">
                <a:solidFill>
                  <a:srgbClr val="F4F2EE"/>
                </a:solidFill>
              </a:defRPr>
            </a:pPr>
            <a:r>
              <a:t>Гость выбирает город (Алматы, Астана, Шымкент), фильтрует по кухне (Казахская, Итальянская, Восточная) и находит заведение.</a:t>
            </a:r>
          </a:p>
          <a:p>
            <a:pPr>
              <a:spcBef>
                <a:spcPts val="800"/>
              </a:spcBef>
              <a:defRPr sz="1200" b="1">
                <a:solidFill>
                  <a:srgbClr val="C5A880"/>
                </a:solidFill>
              </a:defRPr>
            </a:pPr>
            <a:r>
              <a:t>2. Выбор даты, времени и компании</a:t>
            </a:r>
          </a:p>
          <a:p>
            <a:pPr>
              <a:spcBef>
                <a:spcPts val="200"/>
              </a:spcBef>
              <a:defRPr sz="1050">
                <a:solidFill>
                  <a:srgbClr val="F4F2EE"/>
                </a:solidFill>
              </a:defRPr>
            </a:pPr>
            <a:r>
              <a:t>Сетка тайм-слотов (обед, ужин) и количества персон. Система сразу показывает доступные столы.</a:t>
            </a:r>
          </a:p>
          <a:p>
            <a:pPr>
              <a:spcBef>
                <a:spcPts val="800"/>
              </a:spcBef>
              <a:defRPr sz="1200" b="1">
                <a:solidFill>
                  <a:srgbClr val="C5A880"/>
                </a:solidFill>
              </a:defRPr>
            </a:pPr>
            <a:r>
              <a:t>3. Интерактивная схема зала</a:t>
            </a:r>
          </a:p>
          <a:p>
            <a:pPr>
              <a:spcBef>
                <a:spcPts val="200"/>
              </a:spcBef>
              <a:defRPr sz="1050">
                <a:solidFill>
                  <a:srgbClr val="F4F2EE"/>
                </a:solidFill>
              </a:defRPr>
            </a:pPr>
            <a:r>
              <a:t>Гость может выбрать конкретное место: панорамное окно, летняя терраса, VIP-кабина, топчан или дастархан.</a:t>
            </a:r>
          </a:p>
          <a:p>
            <a:pPr>
              <a:spcBef>
                <a:spcPts val="800"/>
              </a:spcBef>
              <a:defRPr sz="1200" b="1">
                <a:solidFill>
                  <a:srgbClr val="C5A880"/>
                </a:solidFill>
              </a:defRPr>
            </a:pPr>
            <a:r>
              <a:t>4. Меню и детальная информация</a:t>
            </a:r>
          </a:p>
          <a:p>
            <a:pPr>
              <a:spcBef>
                <a:spcPts val="200"/>
              </a:spcBef>
              <a:defRPr sz="1050">
                <a:solidFill>
                  <a:srgbClr val="F4F2EE"/>
                </a:solidFill>
              </a:defRPr>
            </a:pPr>
            <a:r>
              <a:t>Цены, фирменные блюда, фотографии порций, геолокация и прямой переход в 2GIS / Instagram.</a:t>
            </a:r>
          </a:p>
          <a:p>
            <a:pPr>
              <a:spcBef>
                <a:spcPts val="800"/>
              </a:spcBef>
              <a:defRPr sz="1200" b="1">
                <a:solidFill>
                  <a:srgbClr val="C5A880"/>
                </a:solidFill>
              </a:defRPr>
            </a:pPr>
            <a:r>
              <a:t>5. Автоматическое подтверждение</a:t>
            </a:r>
          </a:p>
          <a:p>
            <a:pPr>
              <a:spcBef>
                <a:spcPts val="200"/>
              </a:spcBef>
              <a:defRPr sz="1050">
                <a:solidFill>
                  <a:srgbClr val="F4F2EE"/>
                </a:solidFill>
              </a:defRPr>
            </a:pPr>
            <a:r>
              <a:t>Билет бронирования сохраняется в Telegram. За 2 часа до визита бот отправляет вежливое напоминание.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864" y="1609344"/>
            <a:ext cx="2267712" cy="4736592"/>
          </a:xfrm>
          <a:prstGeom prst="roundRect">
            <a:avLst/>
          </a:prstGeom>
          <a:solidFill>
            <a:srgbClr val="1C1F26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uest_catalog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45920"/>
            <a:ext cx="2194560" cy="4663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381744" y="1609344"/>
            <a:ext cx="2267712" cy="4736592"/>
          </a:xfrm>
          <a:prstGeom prst="roundRect">
            <a:avLst/>
          </a:prstGeom>
          <a:solidFill>
            <a:srgbClr val="1C1F26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uest_restaurant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645920"/>
            <a:ext cx="21945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5A880"/>
                </a:solidFill>
                <a:latin typeface="Segoe UI"/>
              </a:defRPr>
            </a:pPr>
            <a:r>
              <a:t>ТЕРМИНАЛ РЕСТОРАНА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4F2EE"/>
                </a:solidFill>
                <a:latin typeface="Georgia"/>
              </a:defRPr>
            </a:pPr>
            <a:r>
              <a:t>RestoKZ PRO: Журнал броней с контекстными действиями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CA3AF"/>
                </a:solidFill>
                <a:latin typeface="Segoe UI"/>
              </a:defRPr>
            </a:pPr>
            <a:r>
              <a:t>Специально разработан под экраны смартфонов хостес с крупными шрифтами и тактильным откликом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A880"/>
                </a:solidFill>
              </a:defRPr>
            </a:pPr>
            <a:r>
              <a:t>⚡ Контекстные умные действия в 1 клик</a:t>
            </a:r>
          </a:p>
          <a:p>
            <a:pPr>
              <a:spcBef>
                <a:spcPts val="200"/>
              </a:spcBef>
              <a:defRPr sz="1000">
                <a:solidFill>
                  <a:srgbClr val="F4F2EE"/>
                </a:solidFill>
              </a:defRPr>
            </a:pPr>
            <a:r>
              <a:t>Кнопки динамически подстраиваются под статус заявки:</a:t>
            </a:r>
            <a:br/>
            <a:r>
              <a:t>• Ожидает: [✅ Подтвердить] + [❌ Отказ]</a:t>
            </a:r>
            <a:br/>
            <a:r>
              <a:t>• Подтверждена: [🥂 Посадить за стол] + [Отмена]</a:t>
            </a:r>
            <a:br/>
            <a:r>
              <a:t>• Гости сидят: [🔓 Стол освободился] + [↩ В бронь]</a:t>
            </a:r>
          </a:p>
          <a:p>
            <a:pPr>
              <a:spcBef>
                <a:spcPts val="800"/>
              </a:spcBef>
              <a:defRPr sz="1200" b="1">
                <a:solidFill>
                  <a:srgbClr val="C5A880"/>
                </a:solidFill>
              </a:defRPr>
            </a:pPr>
            <a:r>
              <a:t>🔍 Мгновенный поиск и фильтрация</a:t>
            </a:r>
          </a:p>
          <a:p>
            <a:pPr>
              <a:spcBef>
                <a:spcPts val="200"/>
              </a:spcBef>
              <a:defRPr sz="1000">
                <a:solidFill>
                  <a:srgbClr val="F4F2EE"/>
                </a:solidFill>
              </a:defRPr>
            </a:pPr>
            <a:r>
              <a:t>Поиск за доли секунды по имени гостя, номеру телефона или #ID заявки. Сегментный переключатель дат: «Все дни | Сегодня | Завтра».</a:t>
            </a:r>
          </a:p>
          <a:p>
            <a:pPr>
              <a:spcBef>
                <a:spcPts val="800"/>
              </a:spcBef>
              <a:defRPr sz="1200" b="1">
                <a:solidFill>
                  <a:srgbClr val="C5A880"/>
                </a:solidFill>
              </a:defRPr>
            </a:pPr>
            <a:r>
              <a:t>📊 Живой KPI-дашборд смены</a:t>
            </a:r>
          </a:p>
          <a:p>
            <a:pPr>
              <a:spcBef>
                <a:spcPts val="200"/>
              </a:spcBef>
              <a:defRPr sz="1000">
                <a:solidFill>
                  <a:srgbClr val="F4F2EE"/>
                </a:solidFill>
              </a:defRPr>
            </a:pPr>
            <a:r>
              <a:t>Крупные показатели вверху экрана: сколько заявок ждут ответа (⏳), сколько столов в брони (✅) и сколько гостей обслужено за смену (👥).</a:t>
            </a:r>
          </a:p>
          <a:p>
            <a:pPr>
              <a:spcBef>
                <a:spcPts val="800"/>
              </a:spcBef>
              <a:defRPr sz="1200" b="1">
                <a:solidFill>
                  <a:srgbClr val="C5A880"/>
                </a:solidFill>
              </a:defRPr>
            </a:pPr>
            <a:r>
              <a:t>🔔 Звуковые консьерж-уведомления (Chime)</a:t>
            </a:r>
          </a:p>
          <a:p>
            <a:pPr>
              <a:spcBef>
                <a:spcPts val="200"/>
              </a:spcBef>
              <a:defRPr sz="1000">
                <a:solidFill>
                  <a:srgbClr val="F4F2EE"/>
                </a:solidFill>
              </a:defRPr>
            </a:pPr>
            <a:r>
              <a:t>При поступлении новой онлайн-заявки терминал издает благородный мягкий гонг (Web Audio API), чтобы хостес не пропустила гостя.</a:t>
            </a:r>
          </a:p>
          <a:p>
            <a:pPr>
              <a:spcBef>
                <a:spcPts val="800"/>
              </a:spcBef>
              <a:defRPr sz="1200" b="1">
                <a:solidFill>
                  <a:srgbClr val="C5A880"/>
                </a:solidFill>
              </a:defRPr>
            </a:pPr>
            <a:r>
              <a:t>🛡 Исключение ошибок человеческого фактора</a:t>
            </a:r>
          </a:p>
          <a:p>
            <a:pPr>
              <a:spcBef>
                <a:spcPts val="200"/>
              </a:spcBef>
              <a:defRPr sz="1000">
                <a:solidFill>
                  <a:srgbClr val="F4F2EE"/>
                </a:solidFill>
              </a:defRPr>
            </a:pPr>
            <a:r>
              <a:t>Невозможно случайно удалить бронь или повторно отменить уже отклоненную заявку. Полная синхронизация с базой данных.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864" y="1609344"/>
            <a:ext cx="2267712" cy="4736592"/>
          </a:xfrm>
          <a:prstGeom prst="roundRect">
            <a:avLst/>
          </a:prstGeom>
          <a:solidFill>
            <a:srgbClr val="1C1F26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_terminal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45920"/>
            <a:ext cx="2194560" cy="4663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290304" y="2249424"/>
            <a:ext cx="2450592" cy="3547872"/>
          </a:xfrm>
          <a:prstGeom prst="roundRect">
            <a:avLst/>
          </a:prstGeom>
          <a:solidFill>
            <a:srgbClr val="1C1F26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min_desktop_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286000"/>
            <a:ext cx="23774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5A880"/>
                </a:solidFill>
                <a:latin typeface="Segoe UI"/>
              </a:defRPr>
            </a:pPr>
            <a:r>
              <a:t>СХЕМА РАССАДКИ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4F2EE"/>
                </a:solidFill>
                <a:latin typeface="Georgia"/>
              </a:defRPr>
            </a:pPr>
            <a:r>
              <a:t>Интерактивная карта зала: Наглядный контроль занятости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CA3AF"/>
                </a:solidFill>
                <a:latin typeface="Segoe UI"/>
              </a:defRPr>
            </a:pPr>
            <a:r>
              <a:t>Никаких накладок, путаницы столов и потери контроля в часы пиковой загрузки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🟢 Наглядная цветовая легенда статусов</a:t>
            </a:r>
          </a:p>
          <a:p>
            <a:pPr>
              <a:spcBef>
                <a:spcPts val="300"/>
              </a:spcBef>
              <a:defRPr sz="1100">
                <a:solidFill>
                  <a:srgbClr val="F4F2EE"/>
                </a:solidFill>
              </a:defRPr>
            </a:pPr>
            <a:r>
              <a:t>• Изумрудный: стол свободен для посадки</a:t>
            </a:r>
            <a:br/>
            <a:r>
              <a:t>• Золотой: стол подтвержден в бронь на выбранное время</a:t>
            </a:r>
            <a:br/>
            <a:r>
              <a:t>• Лазурный: гости уже сидят за столом</a:t>
            </a:r>
            <a:br/>
            <a:r>
              <a:t>• Янтарный: новая заявка ожидает подтверждения</a:t>
            </a:r>
          </a:p>
          <a:p>
            <a:pPr>
              <a:spcBef>
                <a:spcPts val="1200"/>
              </a:spcBef>
              <a:defRPr sz="1300" b="1">
                <a:solidFill>
                  <a:srgbClr val="34D399"/>
                </a:solidFill>
              </a:defRPr>
            </a:pPr>
            <a:r>
              <a:t>⚡ Посадка от двери в 2 клика (Walk-in)</a:t>
            </a:r>
          </a:p>
          <a:p>
            <a:pPr>
              <a:spcBef>
                <a:spcPts val="300"/>
              </a:spcBef>
              <a:defRPr sz="1100">
                <a:solidFill>
                  <a:srgbClr val="F4F2EE"/>
                </a:solidFill>
              </a:defRPr>
            </a:pPr>
            <a:r>
              <a:t>Гости пришли с улицы без брони? Хостес просто тапает на свободный стол в зале — карточка посадки открывается мгновенно.</a:t>
            </a:r>
          </a:p>
          <a:p>
            <a:pPr>
              <a:spcBef>
                <a:spcPts val="1200"/>
              </a:spcBef>
              <a:defRPr sz="1300" b="1">
                <a:solidFill>
                  <a:srgbClr val="34D399"/>
                </a:solidFill>
              </a:defRPr>
            </a:pPr>
            <a:r>
              <a:t>🛡 Защита от овербукинга и коллизий</a:t>
            </a:r>
          </a:p>
          <a:p>
            <a:pPr>
              <a:spcBef>
                <a:spcPts val="300"/>
              </a:spcBef>
              <a:defRPr sz="1100">
                <a:solidFill>
                  <a:srgbClr val="F4F2EE"/>
                </a:solidFill>
              </a:defRPr>
            </a:pPr>
            <a:r>
              <a:t>Система автоматически блокирует стол на 2 часа вокруг времени брони. Никаких конфликтов из-за посадки двух компаний на один диван.</a:t>
            </a:r>
          </a:p>
          <a:p>
            <a:pPr>
              <a:spcBef>
                <a:spcPts val="1200"/>
              </a:spcBef>
              <a:defRPr sz="1300" b="1">
                <a:solidFill>
                  <a:srgbClr val="34D399"/>
                </a:solidFill>
              </a:defRPr>
            </a:pPr>
            <a:r>
              <a:t>🏢 Зонирование ресторана</a:t>
            </a:r>
          </a:p>
          <a:p>
            <a:pPr>
              <a:spcBef>
                <a:spcPts val="300"/>
              </a:spcBef>
              <a:defRPr sz="1100">
                <a:solidFill>
                  <a:srgbClr val="F4F2EE"/>
                </a:solidFill>
              </a:defRPr>
            </a:pPr>
            <a:r>
              <a:t>Четкое разделение на зоны: основной зал, панорамные окна, летняя терраса, тихая зона, топчаны и VIP-кабины.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35824" y="1609344"/>
            <a:ext cx="2313432" cy="4736592"/>
          </a:xfrm>
          <a:prstGeom prst="roundRect">
            <a:avLst/>
          </a:prstGeom>
          <a:solidFill>
            <a:srgbClr val="1C1F26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_floo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22402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5A880"/>
                </a:solidFill>
                <a:latin typeface="Segoe UI"/>
              </a:defRPr>
            </a:pPr>
            <a:r>
              <a:t>УПРАВЛЕНИЕ ПЕРСОНАЛОМ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4F2EE"/>
                </a:solidFill>
                <a:latin typeface="Georgia"/>
              </a:defRPr>
            </a:pPr>
            <a:r>
              <a:t>Рабочая смена и Z-отчётность: Полная прозрачность для владельца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CA3AF"/>
                </a:solidFill>
                <a:latin typeface="Segoe UI"/>
              </a:defRPr>
            </a:pPr>
            <a:r>
              <a:t>Хостес подотчетна системе, а управляющий видит реальные цифры загрузки зала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5A880"/>
                </a:solidFill>
              </a:defRPr>
            </a:pPr>
            <a:r>
              <a:t>⏱ Интерактивный статус-бар смены</a:t>
            </a:r>
          </a:p>
          <a:p>
            <a:pPr>
              <a:spcBef>
                <a:spcPts val="300"/>
              </a:spcBef>
              <a:defRPr sz="1100">
                <a:solidFill>
                  <a:srgbClr val="F4F2EE"/>
                </a:solidFill>
              </a:defRPr>
            </a:pPr>
            <a:r>
              <a:t>В шапке терминала отображается пульсирующий статус с живым таймером (например, «● Смена 3ч 45м»). Данные сохраняются при перезагрузках.</a:t>
            </a:r>
          </a:p>
          <a:p>
            <a:pPr>
              <a:spcBef>
                <a:spcPts val="1000"/>
              </a:spcBef>
              <a:defRPr sz="1300" b="1">
                <a:solidFill>
                  <a:srgbClr val="C5A880"/>
                </a:solidFill>
              </a:defRPr>
            </a:pPr>
            <a:r>
              <a:t>📊 Автоматический подсчет метрик смены</a:t>
            </a:r>
          </a:p>
          <a:p>
            <a:pPr>
              <a:spcBef>
                <a:spcPts val="300"/>
              </a:spcBef>
              <a:defRPr sz="1100">
                <a:solidFill>
                  <a:srgbClr val="F4F2EE"/>
                </a:solidFill>
              </a:defRPr>
            </a:pPr>
            <a:r>
              <a:t>Терминал в реальном времени считает:</a:t>
            </a:r>
            <a:br/>
            <a:r>
              <a:t>• Количество поступивших и обработанных заявок</a:t>
            </a:r>
            <a:br/>
            <a:r>
              <a:t>• Суммарное количество реально посаженных гостей</a:t>
            </a:r>
            <a:br/>
            <a:r>
              <a:t>• Количество отмен и отказов с причинами</a:t>
            </a:r>
          </a:p>
          <a:p>
            <a:pPr>
              <a:spcBef>
                <a:spcPts val="1000"/>
              </a:spcBef>
              <a:defRPr sz="1300" b="1">
                <a:solidFill>
                  <a:srgbClr val="C5A880"/>
                </a:solidFill>
              </a:defRPr>
            </a:pPr>
            <a:r>
              <a:t>🏁 Закрытие смены по кнопке и Z-отчет</a:t>
            </a:r>
          </a:p>
          <a:p>
            <a:pPr>
              <a:spcBef>
                <a:spcPts val="300"/>
              </a:spcBef>
              <a:defRPr sz="1100">
                <a:solidFill>
                  <a:srgbClr val="F4F2EE"/>
                </a:solidFill>
              </a:defRPr>
            </a:pPr>
            <a:r>
              <a:t>Хостес не может просто уйти — по окончании дня она нажимает «Завершить рабочую смену». Формируется итоговая сводка смены для передачи управляющему.</a:t>
            </a:r>
          </a:p>
          <a:p>
            <a:pPr>
              <a:spcBef>
                <a:spcPts val="1000"/>
              </a:spcBef>
              <a:defRPr sz="1300" b="1">
                <a:solidFill>
                  <a:srgbClr val="C5A880"/>
                </a:solidFill>
              </a:defRPr>
            </a:pPr>
            <a:r>
              <a:t>👤 Персональная ответственность</a:t>
            </a:r>
          </a:p>
          <a:p>
            <a:pPr>
              <a:spcBef>
                <a:spcPts val="300"/>
              </a:spcBef>
              <a:defRPr sz="1100">
                <a:solidFill>
                  <a:srgbClr val="F4F2EE"/>
                </a:solidFill>
              </a:defRPr>
            </a:pPr>
            <a:r>
              <a:t>Каждая смена привязана к имени дежурного администратора, исключая перекладывание вины за потерянные брони.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35824" y="1609344"/>
            <a:ext cx="2313432" cy="4736592"/>
          </a:xfrm>
          <a:prstGeom prst="roundRect">
            <a:avLst/>
          </a:prstGeom>
          <a:solidFill>
            <a:srgbClr val="1C1F26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_shift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22402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5A880"/>
                </a:solidFill>
                <a:latin typeface="Segoe UI"/>
              </a:defRPr>
            </a:pPr>
            <a:r>
              <a:t>СОВРЕМЕННЫЙ UX/UI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4F2EE"/>
                </a:solidFill>
                <a:latin typeface="Georgia"/>
              </a:defRPr>
            </a:pPr>
            <a:r>
              <a:t>Мультилокация и быстрое управление сетью ресторанов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CA3AF"/>
                </a:solidFill>
                <a:latin typeface="Segoe UI"/>
              </a:defRPr>
            </a:pPr>
            <a:r>
              <a:t>Замена устаревших браузерных элементов на премиальные Bottom Sheets и боковое меню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FCAAB"/>
                </a:solidFill>
              </a:defRPr>
            </a:pPr>
            <a:r>
              <a:t>🏛 Кастомный Luxury Bottom Sheet выбора заведения</a:t>
            </a:r>
          </a:p>
          <a:p>
            <a:pPr>
              <a:spcBef>
                <a:spcPts val="200"/>
              </a:spcBef>
              <a:defRPr sz="1000">
                <a:solidFill>
                  <a:srgbClr val="F4F2EE"/>
                </a:solidFill>
              </a:defRPr>
            </a:pPr>
            <a:r>
              <a:t>Вместо архаичного селектора — современная шторка с поиском, бейджами городов, количеством столов и моментальным переключением филиалов.</a:t>
            </a:r>
          </a:p>
          <a:p>
            <a:pPr>
              <a:spcBef>
                <a:spcPts val="800"/>
              </a:spcBef>
              <a:defRPr sz="1200" b="1">
                <a:solidFill>
                  <a:srgbClr val="DFCAAB"/>
                </a:solidFill>
              </a:defRPr>
            </a:pPr>
            <a:r>
              <a:t>☰ Боковое меню (Side Drawer)</a:t>
            </a:r>
          </a:p>
          <a:p>
            <a:pPr>
              <a:spcBef>
                <a:spcPts val="200"/>
              </a:spcBef>
              <a:defRPr sz="1000">
                <a:solidFill>
                  <a:srgbClr val="F4F2EE"/>
                </a:solidFill>
              </a:defRPr>
            </a:pPr>
            <a:r>
              <a:t>Все служебные функции аккуратно спрятаны под гамбургер-меню, освобождая экран терминала для главного — броней и карты зала.</a:t>
            </a:r>
          </a:p>
          <a:p>
            <a:pPr>
              <a:spcBef>
                <a:spcPts val="800"/>
              </a:spcBef>
              <a:defRPr sz="1200" b="1">
                <a:solidFill>
                  <a:srgbClr val="DFCAAB"/>
                </a:solidFill>
              </a:defRPr>
            </a:pPr>
            <a:r>
              <a:t>🌐 Трехъязычный интерфейс (RU / KZ / EN)</a:t>
            </a:r>
          </a:p>
          <a:p>
            <a:pPr>
              <a:spcBef>
                <a:spcPts val="200"/>
              </a:spcBef>
              <a:defRPr sz="1000">
                <a:solidFill>
                  <a:srgbClr val="F4F2EE"/>
                </a:solidFill>
              </a:defRPr>
            </a:pPr>
            <a:r>
              <a:t>Крупные удобные кнопки переключения языка для сотрудников и гостей в любом регионе Казахстана.</a:t>
            </a:r>
          </a:p>
          <a:p>
            <a:pPr>
              <a:spcBef>
                <a:spcPts val="800"/>
              </a:spcBef>
              <a:defRPr sz="1200" b="1">
                <a:solidFill>
                  <a:srgbClr val="DFCAAB"/>
                </a:solidFill>
              </a:defRPr>
            </a:pPr>
            <a:r>
              <a:t>🍽 Быстрый переход «Терминал ↔ Витрина гостя»</a:t>
            </a:r>
          </a:p>
          <a:p>
            <a:pPr>
              <a:spcBef>
                <a:spcPts val="200"/>
              </a:spcBef>
              <a:defRPr sz="1000">
                <a:solidFill>
                  <a:srgbClr val="F4F2EE"/>
                </a:solidFill>
              </a:defRPr>
            </a:pPr>
            <a:r>
              <a:t>Хостес может в любой момент открыть клиентскую витрину и увидеть свой ресторан глазами гостя.</a:t>
            </a:r>
          </a:p>
          <a:p>
            <a:pPr>
              <a:spcBef>
                <a:spcPts val="800"/>
              </a:spcBef>
              <a:defRPr sz="1200" b="1">
                <a:solidFill>
                  <a:srgbClr val="DFCAAB"/>
                </a:solidFill>
              </a:defRPr>
            </a:pPr>
            <a:r>
              <a:t>⚡ Тактильный отклик и анимации</a:t>
            </a:r>
          </a:p>
          <a:p>
            <a:pPr>
              <a:spcBef>
                <a:spcPts val="200"/>
              </a:spcBef>
              <a:defRPr sz="1000">
                <a:solidFill>
                  <a:srgbClr val="F4F2EE"/>
                </a:solidFill>
              </a:defRPr>
            </a:pPr>
            <a:r>
              <a:t>Плавная физика сжатия кнопок (Spring physics), адаптивность под Home Bar iPhone (Safe Area).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864" y="1609344"/>
            <a:ext cx="2267712" cy="4736592"/>
          </a:xfrm>
          <a:prstGeom prst="roundRect">
            <a:avLst/>
          </a:prstGeom>
          <a:solidFill>
            <a:srgbClr val="1C1F26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_rest_p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45920"/>
            <a:ext cx="2194560" cy="4663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381744" y="1609344"/>
            <a:ext cx="2267712" cy="4736592"/>
          </a:xfrm>
          <a:prstGeom prst="roundRect">
            <a:avLst/>
          </a:prstGeom>
          <a:solidFill>
            <a:srgbClr val="1C1F26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min_drawer_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645920"/>
            <a:ext cx="21945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5A880"/>
                </a:solidFill>
                <a:latin typeface="Segoe UI"/>
              </a:defRPr>
            </a:pPr>
            <a:r>
              <a:t>НАСТРОЙКА И КАСТОМИЗАЦИЯ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4F2EE"/>
                </a:solidFill>
                <a:latin typeface="Georgia"/>
              </a:defRPr>
            </a:pPr>
            <a:r>
              <a:t>Конструктор зала и Управление рестораном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CA3AF"/>
                </a:solidFill>
                <a:latin typeface="Segoe UI"/>
              </a:defRPr>
            </a:pPr>
            <a:r>
              <a:t>Полная автономия заведения — добавление точек, настройка столов и блюд за 5 минут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🏢 Профиль &amp; Соцсети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• Редактирование адреса, телефона и режима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• Прямые ссылки на 2GIS, Instagram, WhatsApp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• Указание среднего чека и концепта кухни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• Регистрация нового филиала в 1 клик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880"/>
                </a:solidFill>
              </a:defRPr>
            </a:pPr>
            <a:r>
              <a:t>🍽 Электронное Меню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• Добавление блюд по категориям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• Загрузка фото, граммовки и цен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• Мгновенное скрытие блюд на «стоп-листе»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• Синхронизация меню с витриной гостя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🪑 Конструктор Столов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• Добавление столов в зал с номерами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• Вместимость: 2, 4, 6, 8, 10, 12+ персон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• Выбор зоны (У окна, Терраса, VIP, Топчан)</a:t>
            </a:r>
          </a:p>
          <a:p>
            <a:pPr>
              <a:spcBef>
                <a:spcPts val="800"/>
              </a:spcBef>
              <a:defRPr sz="1100">
                <a:solidFill>
                  <a:srgbClr val="F4F2EE"/>
                </a:solidFill>
              </a:defRPr>
            </a:pPr>
            <a:r>
              <a:t>• Описание столика для хостес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5A880"/>
                </a:solidFill>
                <a:latin typeface="Segoe UI"/>
              </a:defRPr>
            </a:pPr>
            <a:r>
              <a:t>КОНКУРЕНТНЫЙ АНАЛИЗ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4F2EE"/>
                </a:solidFill>
                <a:latin typeface="Georgia"/>
              </a:defRPr>
            </a:pPr>
            <a:r>
              <a:t>Комплексная матрица: Сравнение 5 ключевых альтернатив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CA3AF"/>
                </a:solidFill>
                <a:latin typeface="Segoe UI"/>
              </a:defRPr>
            </a:pPr>
            <a:r>
              <a:t>Прямое сопоставление RestoKZ PRO с существующими решениями на рынке Казахстана по 8 параметрам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5911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737360"/>
                <a:gridCol w="1737360"/>
                <a:gridCol w="1737360"/>
                <a:gridCol w="1737360"/>
                <a:gridCol w="1856231"/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C5A880"/>
                          </a:solidFill>
                        </a:defRPr>
                      </a:pPr>
                      <a:r>
                        <a:t>Критерий / Решение</a:t>
                      </a:r>
                    </a:p>
                  </a:txBody>
                  <a:tcPr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C5A880"/>
                          </a:solidFill>
                        </a:defRPr>
                      </a:pPr>
                      <a:r>
                        <a:t>Тетрадь + WhatsApp</a:t>
                      </a:r>
                    </a:p>
                  </a:txBody>
                  <a:tcPr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C5A880"/>
                          </a:solidFill>
                        </a:defRPr>
                      </a:pPr>
                      <a:r>
                        <a:t>2GIS Бронь</a:t>
                      </a:r>
                    </a:p>
                  </a:txBody>
                  <a:tcPr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C5A880"/>
                          </a:solidFill>
                        </a:defRPr>
                      </a:pPr>
                      <a:r>
                        <a:t>Каталоги (Restolife)</a:t>
                      </a:r>
                    </a:p>
                  </a:txBody>
                  <a:tcPr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C5A880"/>
                          </a:solidFill>
                        </a:defRPr>
                      </a:pPr>
                      <a:r>
                        <a:t>Тяжелые POS (iiko)</a:t>
                      </a:r>
                    </a:p>
                  </a:txBody>
                  <a:tcPr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0E1013"/>
                          </a:solidFill>
                        </a:defRPr>
                      </a:pPr>
                      <a:r>
                        <a:t>👑 RestoKZ PRO</a:t>
                      </a:r>
                    </a:p>
                  </a:txBody>
                  <a:tcPr>
                    <a:solidFill>
                      <a:srgbClr val="C5A88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F2EE"/>
                          </a:solidFill>
                        </a:defRPr>
                      </a:pPr>
                      <a:r>
                        <a:t>Скорость брони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15–40 мин (ожидание)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3–5 мин (окно 2GIS)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5–10 мин (перезвон)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Ручная посадка у стойки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FCAAB"/>
                          </a:solidFill>
                        </a:defRPr>
                      </a:pPr>
                      <a:r>
                        <a:t>⚡ 30 секунд (в Telegram)</a:t>
                      </a:r>
                    </a:p>
                  </a:txBody>
                  <a:tcPr>
                    <a:solidFill>
                      <a:srgbClr val="1C202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F2EE"/>
                          </a:solidFill>
                        </a:defRPr>
                      </a:pPr>
                      <a:r>
                        <a:t>Барьер для гостя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Звонок / аудио в чат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Установка приложения 2GIS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Переход на сайт, логин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Только при личном визите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FCAAB"/>
                          </a:solidFill>
                        </a:defRPr>
                      </a:pPr>
                      <a:r>
                        <a:t>⚡ 0 (Mini App без смс)</a:t>
                      </a:r>
                    </a:p>
                  </a:txBody>
                  <a:tcPr>
                    <a:solidFill>
                      <a:srgbClr val="1C202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F2EE"/>
                          </a:solidFill>
                        </a:defRPr>
                      </a:pPr>
                      <a:r>
                        <a:t>Защита от No-Show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❌ 0% (нет автоконтроля)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⚠️ Слабая (пассивное СМС)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❌ 0% (нет напоминаний)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⚠️ Только статус на кассе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FCAAB"/>
                          </a:solidFill>
                        </a:defRPr>
                      </a:pPr>
                      <a:r>
                        <a:t>🛡 Высокая (пуш + отмена)</a:t>
                      </a:r>
                    </a:p>
                  </a:txBody>
                  <a:tcPr>
                    <a:solidFill>
                      <a:srgbClr val="1C202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F2EE"/>
                          </a:solidFill>
                        </a:defRPr>
                      </a:pPr>
                      <a:r>
                        <a:t>Стоимость для точки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0 ₸, но убытки до 450к₸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Пакеты от 80 000 ₸/мес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Комиссия 10-15% с чека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Лицензия от 40к₸ + ПК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FCAAB"/>
                          </a:solidFill>
                        </a:defRPr>
                      </a:pPr>
                      <a:r>
                        <a:t>✅ Фиксир. 35–49 тыс ₸</a:t>
                      </a:r>
                    </a:p>
                  </a:txBody>
                  <a:tcPr>
                    <a:solidFill>
                      <a:srgbClr val="1C202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F2EE"/>
                          </a:solidFill>
                        </a:defRPr>
                      </a:pPr>
                      <a:r>
                        <a:t>Мобильность хостес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❌ Хаос чатов смартфона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⚠️ Неудобно, десктоп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❌ Нет мобильного софта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❌ Нужен стационарный ПК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FCAAB"/>
                          </a:solidFill>
                        </a:defRPr>
                      </a:pPr>
                      <a:r>
                        <a:t>📱 Легкий мобильный PWA</a:t>
                      </a:r>
                    </a:p>
                  </a:txBody>
                  <a:tcPr>
                    <a:solidFill>
                      <a:srgbClr val="1C202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F2EE"/>
                          </a:solidFill>
                        </a:defRPr>
                      </a:pPr>
                      <a:r>
                        <a:t>Карта зала / зоны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❌ Каракули в блокноте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❌ Только список текстом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❌ Нет схемы рассадки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✅ Есть, но на ПК кассы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FCAAB"/>
                          </a:solidFill>
                        </a:defRPr>
                      </a:pPr>
                      <a:r>
                        <a:t>🗺 Живая шахматка зала</a:t>
                      </a:r>
                    </a:p>
                  </a:txBody>
                  <a:tcPr>
                    <a:solidFill>
                      <a:srgbClr val="1C202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F2EE"/>
                          </a:solidFill>
                        </a:defRPr>
                      </a:pPr>
                      <a:r>
                        <a:t>Учет менталитета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Частично (забывают)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❌ Без топчанов и VIP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❌ Шаблоны под РФ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❌ Сложно для персонала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FCAAB"/>
                          </a:solidFill>
                        </a:defRPr>
                      </a:pPr>
                      <a:r>
                        <a:t>👑 100% ('По звонку', VIP)</a:t>
                      </a:r>
                    </a:p>
                  </a:txBody>
                  <a:tcPr>
                    <a:solidFill>
                      <a:srgbClr val="1C202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F2EE"/>
                          </a:solidFill>
                        </a:defRPr>
                      </a:pPr>
                      <a:r>
                        <a:t>Владение базой гостей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У хостес (теряется)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Принадлежит 2GIS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Принадлежит агрегатору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4F2EE"/>
                          </a:solidFill>
                        </a:defRPr>
                      </a:pPr>
                      <a:r>
                        <a:t>На локальном ПК кассы</a:t>
                      </a:r>
                    </a:p>
                  </a:txBody>
                  <a:tcPr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FCAAB"/>
                          </a:solidFill>
                        </a:defRPr>
                      </a:pPr>
                      <a:r>
                        <a:t>🔒 Принадлежит заведению</a:t>
                      </a:r>
                    </a:p>
                  </a:txBody>
                  <a:tcPr>
                    <a:solidFill>
                      <a:srgbClr val="1C20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5A880"/>
                </a:solidFill>
                <a:latin typeface="Segoe UI"/>
              </a:defRPr>
            </a:pPr>
            <a:r>
              <a:t>СТРАТЕГИЯ РЫНКА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4F2EE"/>
                </a:solidFill>
                <a:latin typeface="Georgia"/>
              </a:defRPr>
            </a:pPr>
            <a:r>
              <a:t>Позиционирование: «Голубой океан» RestoKZ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CA3AF"/>
                </a:solidFill>
                <a:latin typeface="Segoe UI"/>
              </a:defRPr>
            </a:pPr>
            <a:r>
              <a:t>Мы не конкурируем с монополистами (2GIS, Kaspi, iiko), а создаем с ними взаимовыгодный симбиоз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🤝 1. Симбиоз с 2GIS и Instagram</a:t>
            </a:r>
          </a:p>
          <a:p>
            <a:pPr>
              <a:spcBef>
                <a:spcPts val="1200"/>
              </a:spcBef>
              <a:defRPr sz="1050">
                <a:solidFill>
                  <a:srgbClr val="F4F2EE"/>
                </a:solidFill>
              </a:defRPr>
            </a:pPr>
            <a:r>
              <a:t>Заведения тратят до 1.5 млн ₸ на рекламу. Сейчас трафик сливается в WhatsApp с конверсией всего 4%.</a:t>
            </a:r>
            <a:br/>
            <a:br/>
            <a:r>
              <a:t>Ссылка на RestoKZ Mini App в шапке Instagram и в карточке 2GIS увеличивает конверсию рекламы в реальную посадку в 3-4 раза. Мы монетизируем их трафик без войны.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5A880"/>
                </a:solidFill>
              </a:defRPr>
            </a:pPr>
            <a:r>
              <a:t>💻 2. Симбиоз с кассовыми ERP (iiko / R-Keeper)</a:t>
            </a:r>
          </a:p>
          <a:p>
            <a:pPr>
              <a:spcBef>
                <a:spcPts val="1200"/>
              </a:spcBef>
              <a:defRPr sz="1050">
                <a:solidFill>
                  <a:srgbClr val="F4F2EE"/>
                </a:solidFill>
              </a:defRPr>
            </a:pPr>
            <a:r>
              <a:t>iiko идеально считает себестоимость стейков на кухне и склад, но слишком громоздка для смартфона хостес у входной двери.</a:t>
            </a:r>
            <a:br/>
            <a:br/>
            <a:r>
              <a:t>RestoKZ закрывает узкую боль мобильной посадки зала и приема гостей, не требуя от ресторана дорогостоящей смены касс.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🛡 3. Локальный защитный ров (Local Moat)</a:t>
            </a:r>
          </a:p>
          <a:p>
            <a:pPr>
              <a:spcBef>
                <a:spcPts val="1200"/>
              </a:spcBef>
              <a:defRPr sz="1050">
                <a:solidFill>
                  <a:srgbClr val="F4F2EE"/>
                </a:solidFill>
              </a:defRPr>
            </a:pPr>
            <a:r>
              <a:t>Ни один зарубежный сервис не понимает, что такое «бронь топчана на құдалық на 15 человек» или «звонок от Баке с просьбой занять лучший стол».</a:t>
            </a:r>
            <a:br/>
            <a:br/>
            <a:r>
              <a:t>Интерфейс на казахском языке и модуль «По звонку» за 3 секунды создают непреодолимый барьер для внешних конкурентов.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5A880"/>
                </a:solidFill>
                <a:latin typeface="Segoe UI"/>
              </a:defRPr>
            </a:pPr>
            <a:r>
              <a:t>БИЗНЕС-МОДЕЛЬ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4F2EE"/>
                </a:solidFill>
                <a:latin typeface="Georgia"/>
              </a:defRPr>
            </a:pPr>
            <a:r>
              <a:t>Тарифные планы и окупаемость для заведения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CA3AF"/>
                </a:solidFill>
                <a:latin typeface="Segoe UI"/>
              </a:defRPr>
            </a:pPr>
            <a:r>
              <a:t>Формула 1:1 — окупается всего за 1 спасенный банкетный стол на 8-10 человек в месяц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F2EE"/>
                </a:solidFill>
              </a:defRPr>
            </a:pPr>
            <a:r>
              <a:t>ТАРИФ «СТАРТ»</a:t>
            </a:r>
          </a:p>
          <a:p>
            <a:pPr>
              <a:spcBef>
                <a:spcPts val="600"/>
              </a:spcBef>
              <a:defRPr sz="2800" b="1">
                <a:solidFill>
                  <a:srgbClr val="F4F2EE"/>
                </a:solidFill>
              </a:defRPr>
            </a:pPr>
            <a:r>
              <a:t>35 000 ₸</a:t>
            </a:r>
          </a:p>
          <a:p>
            <a:pPr>
              <a:spcBef>
                <a:spcPts val="200"/>
              </a:spcBef>
              <a:defRPr sz="950">
                <a:solidFill>
                  <a:srgbClr val="9CA3AF"/>
                </a:solidFill>
              </a:defRPr>
            </a:pPr>
            <a:r>
              <a:t>в месяц за заведение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До 12 столиков в заведении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Гостевой Telegram Mini App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Журнал онлайн-бронирований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Напоминания гостям в Telegram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Техническая поддержка 7 дней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C1F26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5A880"/>
                </a:solidFill>
              </a:defRPr>
            </a:pPr>
            <a:r>
              <a:t>ТАРИФ «PRO ХИТ»</a:t>
            </a:r>
          </a:p>
          <a:p>
            <a:pPr>
              <a:spcBef>
                <a:spcPts val="600"/>
              </a:spcBef>
              <a:defRPr sz="2800" b="1">
                <a:solidFill>
                  <a:srgbClr val="F4F2EE"/>
                </a:solidFill>
              </a:defRPr>
            </a:pPr>
            <a:r>
              <a:t>49 000 ₸</a:t>
            </a:r>
          </a:p>
          <a:p>
            <a:pPr>
              <a:spcBef>
                <a:spcPts val="200"/>
              </a:spcBef>
              <a:defRPr sz="950">
                <a:solidFill>
                  <a:srgbClr val="9CA3AF"/>
                </a:solidFill>
              </a:defRPr>
            </a:pPr>
            <a:r>
              <a:t>в месяц за заведение (Рекомендуемый)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Неограниченное число столов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Интерактивная карта зала и шахматка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Управление рабочей сменой и Z-отчет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Звуковые уведомления (Chime)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Модуль Walk-in (бронь от двери)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Приоритетная поддержка 24/7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ТАРИФ «СЕТЬ / VIP»</a:t>
            </a:r>
          </a:p>
          <a:p>
            <a:pPr>
              <a:spcBef>
                <a:spcPts val="600"/>
              </a:spcBef>
              <a:defRPr sz="2800" b="1">
                <a:solidFill>
                  <a:srgbClr val="F4F2EE"/>
                </a:solidFill>
              </a:defRPr>
            </a:pPr>
            <a:r>
              <a:t>65 000 ₸</a:t>
            </a:r>
          </a:p>
          <a:p>
            <a:pPr>
              <a:spcBef>
                <a:spcPts val="200"/>
              </a:spcBef>
              <a:defRPr sz="950">
                <a:solidFill>
                  <a:srgbClr val="9CA3AF"/>
                </a:solidFill>
              </a:defRPr>
            </a:pPr>
            <a:r>
              <a:t>в месяц за точку (для сетей)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Всё, что входит в тариф PRO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Единый мультилокационный кабинет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Неограниченное число филиалов сети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Персональный менеджер внедрения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✓ Кастомизация под брендбук ресторана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5A880"/>
                </a:solidFill>
                <a:latin typeface="Segoe UI"/>
              </a:defRPr>
            </a:pPr>
            <a:r>
              <a:t>СТРАТЕГИЯ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4F2EE"/>
                </a:solidFill>
                <a:latin typeface="Georgia"/>
              </a:defRPr>
            </a:pPr>
            <a:r>
              <a:t>Дорожная карта: От пилота к экосистеме №1 в Казахстане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CA3AF"/>
                </a:solidFill>
                <a:latin typeface="Segoe UI"/>
              </a:defRPr>
            </a:pPr>
            <a:r>
              <a:t>Поэтапное расширение функционала и ликвидация No-Show до абсолютного нуля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v2.4 Live (РЕАЛИЗОВАНО)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• Полноценный гостевой WebApp с выбором залов и меню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• Мобильный терминал хостес с контекстными кнопками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• Интерактивная карта зала с цветовой занятостью столов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• Учет смены персонала, Z-отчеты и консьерж-гонг Chime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• Мультилокация и трехъязычие (KZ / RU / 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Q4 2026: Kaspi QR Депозиты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• Взимание онлайн-предоплаты через Kaspi QR при бронировании VIP-кабин и топчанов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• 100% ликвидация проблемы неявки (No-Show)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• В CustDev 6 из 10 гостей подтвердили готовность внести аванс 5 000 – 10 000 ₸ ради гарантии лучшего стола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• Дополнительный финтех-поток монетизации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Q1 2027: AI-Голос &amp; WhatsApp API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• Голосовой AI-ассистент для автоматического приема звонков по телефону на казахском и русском языках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• Официальный WhatsApp Business API шлюз для автоматических ответов на стандартные вопросы</a:t>
            </a:r>
          </a:p>
          <a:p>
            <a:pPr>
              <a:spcBef>
                <a:spcPts val="800"/>
              </a:spcBef>
              <a:defRPr sz="1050">
                <a:solidFill>
                  <a:srgbClr val="F4F2EE"/>
                </a:solidFill>
              </a:defRPr>
            </a:pPr>
            <a:r>
              <a:t>• Масштабирование на Алматы, Астану, Ташкент и Баку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5A880"/>
                </a:solidFill>
                <a:latin typeface="Segoe UI"/>
              </a:defRPr>
            </a:pPr>
            <a:r>
              <a:t>ДЕМОНСТРАЦИЯ И КОНТАКТЫ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4F2EE"/>
                </a:solidFill>
                <a:latin typeface="Georgia"/>
              </a:defRPr>
            </a:pPr>
            <a:r>
              <a:t>Протестируйте систему RestoKZ прямо сейчас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CA3AF"/>
                </a:solidFill>
                <a:latin typeface="Segoe UI"/>
              </a:defRPr>
            </a:pPr>
            <a:r>
              <a:t>Готовое боевое решение, готовое к пилотному внедрению в заведениях уже сегодня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3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5A880"/>
                </a:solidFill>
              </a:defRPr>
            </a:pPr>
            <a:r>
              <a:t>🚀 ССЫЛКИ ДЛЯ ТЕСТИРОВАНИЯ В РЕАЛЬНОМ ВРЕМЕНИ</a:t>
            </a:r>
          </a:p>
          <a:p>
            <a:pPr>
              <a:spcBef>
                <a:spcPts val="1000"/>
              </a:spcBef>
              <a:defRPr sz="1100" b="1">
                <a:solidFill>
                  <a:srgbClr val="DFCAAB"/>
                </a:solidFill>
              </a:defRPr>
            </a:pPr>
            <a:r>
              <a:t>🍽 Гостевая витрина Mini App (Live):</a:t>
            </a:r>
          </a:p>
          <a:p>
            <a:pPr>
              <a:spcBef>
                <a:spcPts val="200"/>
              </a:spcBef>
              <a:defRPr sz="1050">
                <a:solidFill>
                  <a:srgbClr val="F4F2EE"/>
                </a:solidFill>
              </a:defRPr>
            </a:pPr>
            <a:r>
              <a:t>https://sp1ceman.github.io/restokz-bot/</a:t>
            </a:r>
          </a:p>
          <a:p>
            <a:pPr>
              <a:spcBef>
                <a:spcPts val="1000"/>
              </a:spcBef>
              <a:defRPr sz="1100" b="1">
                <a:solidFill>
                  <a:srgbClr val="DFCAAB"/>
                </a:solidFill>
              </a:defRPr>
            </a:pPr>
            <a:r>
              <a:t>👑 Терминал хостес RestoKZ PRO:</a:t>
            </a:r>
          </a:p>
          <a:p>
            <a:pPr>
              <a:spcBef>
                <a:spcPts val="200"/>
              </a:spcBef>
              <a:defRPr sz="1050">
                <a:solidFill>
                  <a:srgbClr val="F4F2EE"/>
                </a:solidFill>
              </a:defRPr>
            </a:pPr>
            <a:r>
              <a:t>https://sp1ceman.github.io/restokz-bot/admin.html</a:t>
            </a:r>
          </a:p>
          <a:p>
            <a:pPr>
              <a:spcBef>
                <a:spcPts val="1000"/>
              </a:spcBef>
              <a:defRPr sz="1100" b="1">
                <a:solidFill>
                  <a:srgbClr val="DFCAAB"/>
                </a:solidFill>
              </a:defRPr>
            </a:pPr>
            <a:r>
              <a:t>📊 Интерактивная Web-презентация:</a:t>
            </a:r>
          </a:p>
          <a:p>
            <a:pPr>
              <a:spcBef>
                <a:spcPts val="200"/>
              </a:spcBef>
              <a:defRPr sz="1050">
                <a:solidFill>
                  <a:srgbClr val="F4F2EE"/>
                </a:solidFill>
              </a:defRPr>
            </a:pPr>
            <a:r>
              <a:t>https://sp1ceman.github.io/restokz-bot/presentation.html</a:t>
            </a:r>
          </a:p>
          <a:p>
            <a:pPr>
              <a:spcBef>
                <a:spcPts val="1000"/>
              </a:spcBef>
              <a:defRPr sz="1100" b="1">
                <a:solidFill>
                  <a:srgbClr val="DFCAAB"/>
                </a:solidFill>
              </a:defRPr>
            </a:pPr>
            <a:r>
              <a:t>💬 Telegram бот сервиса:</a:t>
            </a:r>
          </a:p>
          <a:p>
            <a:pPr>
              <a:spcBef>
                <a:spcPts val="200"/>
              </a:spcBef>
              <a:defRPr sz="1050">
                <a:solidFill>
                  <a:srgbClr val="F4F2EE"/>
                </a:solidFill>
              </a:defRPr>
            </a:pPr>
            <a:r>
              <a:t>@RestoKZ_Bot</a:t>
            </a:r>
          </a:p>
          <a:p>
            <a:pPr>
              <a:spcBef>
                <a:spcPts val="1000"/>
              </a:spcBef>
              <a:defRPr sz="1100" b="1">
                <a:solidFill>
                  <a:srgbClr val="DFCAAB"/>
                </a:solidFill>
              </a:defRPr>
            </a:pPr>
            <a:r>
              <a:t>⚡ Время подключения точки:</a:t>
            </a:r>
          </a:p>
          <a:p>
            <a:pPr>
              <a:spcBef>
                <a:spcPts val="200"/>
              </a:spcBef>
              <a:defRPr sz="1050">
                <a:solidFill>
                  <a:srgbClr val="F4F2EE"/>
                </a:solidFill>
              </a:defRPr>
            </a:pPr>
            <a:r>
              <a:t>Менее 1 дня на личном смартфоне хостес без покупки оборудования.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4846320" cy="4663440"/>
          </a:xfrm>
          <a:prstGeom prst="roundRect">
            <a:avLst/>
          </a:prstGeom>
          <a:solidFill>
            <a:srgbClr val="15171D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828800"/>
            <a:ext cx="4297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5A880"/>
                </a:solidFill>
              </a:defRPr>
            </a:pPr>
            <a:r>
              <a:t>💡 РЕЗЮМЕ ДЛЯ ИНВЕСТОРА</a:t>
            </a:r>
          </a:p>
          <a:p>
            <a:pPr>
              <a:spcBef>
                <a:spcPts val="1000"/>
              </a:spcBef>
              <a:defRPr sz="1100" b="1">
                <a:solidFill>
                  <a:srgbClr val="DFCAAB"/>
                </a:solidFill>
              </a:defRPr>
            </a:pPr>
            <a:r>
              <a:t>• Рынок проверен фактами:</a:t>
            </a:r>
          </a:p>
          <a:p>
            <a:pPr>
              <a:spcBef>
                <a:spcPts val="200"/>
              </a:spcBef>
              <a:defRPr sz="1000">
                <a:solidFill>
                  <a:srgbClr val="F4F2EE"/>
                </a:solidFill>
              </a:defRPr>
            </a:pPr>
            <a:r>
              <a:t>Проведено 20 глубинных интервью. Боль No-Show и коллапс WhatsApp подтверждены 100% заведений.</a:t>
            </a:r>
          </a:p>
          <a:p>
            <a:pPr>
              <a:spcBef>
                <a:spcPts val="1000"/>
              </a:spcBef>
              <a:defRPr sz="1100" b="1">
                <a:solidFill>
                  <a:srgbClr val="DFCAAB"/>
                </a:solidFill>
              </a:defRPr>
            </a:pPr>
            <a:r>
              <a:t>• Unit-экономика сходится:</a:t>
            </a:r>
          </a:p>
          <a:p>
            <a:pPr>
              <a:spcBef>
                <a:spcPts val="200"/>
              </a:spcBef>
              <a:defRPr sz="1000">
                <a:solidFill>
                  <a:srgbClr val="F4F2EE"/>
                </a:solidFill>
              </a:defRPr>
            </a:pPr>
            <a:r>
              <a:t>Тариф 49 000 ₸ окупается ресторану за 1 банкетный стол в месяц. Очевидный ROI.</a:t>
            </a:r>
          </a:p>
          <a:p>
            <a:pPr>
              <a:spcBef>
                <a:spcPts val="1000"/>
              </a:spcBef>
              <a:defRPr sz="1100" b="1">
                <a:solidFill>
                  <a:srgbClr val="DFCAAB"/>
                </a:solidFill>
              </a:defRPr>
            </a:pPr>
            <a:r>
              <a:t>• Защитный ров (Local Moat):</a:t>
            </a:r>
          </a:p>
          <a:p>
            <a:pPr>
              <a:spcBef>
                <a:spcPts val="200"/>
              </a:spcBef>
              <a:defRPr sz="1000">
                <a:solidFill>
                  <a:srgbClr val="F4F2EE"/>
                </a:solidFill>
              </a:defRPr>
            </a:pPr>
            <a:r>
              <a:t>Учет менталитета Казахстана (топчаны, VIP, язык, звонки Баке) защищает от глобальных гигантов.</a:t>
            </a:r>
          </a:p>
          <a:p>
            <a:pPr>
              <a:spcBef>
                <a:spcPts val="1000"/>
              </a:spcBef>
              <a:defRPr sz="1100" b="1">
                <a:solidFill>
                  <a:srgbClr val="DFCAAB"/>
                </a:solidFill>
              </a:defRPr>
            </a:pPr>
            <a:r>
              <a:t>• Команда и готовность:</a:t>
            </a:r>
          </a:p>
          <a:p>
            <a:pPr>
              <a:spcBef>
                <a:spcPts val="200"/>
              </a:spcBef>
              <a:defRPr sz="1000">
                <a:solidFill>
                  <a:srgbClr val="F4F2EE"/>
                </a:solidFill>
              </a:defRPr>
            </a:pPr>
            <a:r>
              <a:t>Продукт работает в продакшене. Пилотный запуск 30 ресторанов начинается сразу после раунда.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